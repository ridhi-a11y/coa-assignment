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3" name="Shape 11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0" name="Shape 1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228600">
              <a:spcBef>
                <a:spcPts val="300"/>
              </a:spcBef>
              <a:defRPr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Generated notes (Beta). Check for accuracy.</a:t>
            </a:r>
          </a:p>
          <a:p>
            <a:pPr marL="120315" indent="-120315">
              <a:spcBef>
                <a:spcPts val="300"/>
              </a:spcBef>
              <a:buSzPct val="1000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Let's dive into the technical approach of ECDAT</a:t>
            </a:r>
          </a:p>
          <a:p>
            <a:pPr marL="120315" indent="-120315">
              <a:spcBef>
                <a:spcPts val="300"/>
              </a:spcBef>
              <a:buSzPct val="1000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We've organized our solution into several key layers</a:t>
            </a:r>
          </a:p>
          <a:p>
            <a:pPr marL="120315" indent="-120315">
              <a:spcBef>
                <a:spcPts val="300"/>
              </a:spcBef>
              <a:buSzPct val="1000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Starting with the Discovery Layer, this is where we gather all our raw data</a:t>
            </a:r>
          </a:p>
          <a:p>
            <a:pPr marL="120315" indent="-120315">
              <a:spcBef>
                <a:spcPts val="300"/>
              </a:spcBef>
              <a:buSzPct val="1000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We analyze source code using advanced tools like Tree-sitter and Semgrep</a:t>
            </a:r>
          </a:p>
          <a:p>
            <a:pPr marL="120315" indent="-120315">
              <a:spcBef>
                <a:spcPts val="300"/>
              </a:spcBef>
              <a:buSzPct val="1000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For network discovery, we employ Scapy for non-intrusive TLS probing</a:t>
            </a:r>
          </a:p>
          <a:p>
            <a:pPr marL="120315" indent="-120315">
              <a:spcBef>
                <a:spcPts val="300"/>
              </a:spcBef>
              <a:buSzPct val="1000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Binary and firmware analysis is handled with Ghidra and YARA</a:t>
            </a:r>
          </a:p>
          <a:p>
            <a:pPr marL="120315" indent="-120315">
              <a:spcBef>
                <a:spcPts val="300"/>
              </a:spcBef>
              <a:buSzPct val="100000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This comprehensive approach lets us detect cryptographic algorithms, keys, and their usage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914400" y="2130427"/>
            <a:ext cx="10363200" cy="1470026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431800" indent="-406400" algn="ctr">
              <a:spcBef>
                <a:spcPts val="600"/>
              </a:spcBef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431800" indent="76200" algn="ctr">
              <a:spcBef>
                <a:spcPts val="600"/>
              </a:spcBef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431800" indent="558800" algn="ctr">
              <a:spcBef>
                <a:spcPts val="600"/>
              </a:spcBef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431800" indent="1041400" algn="ctr">
              <a:spcBef>
                <a:spcPts val="600"/>
              </a:spcBef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431800" indent="1498600" algn="ctr">
              <a:spcBef>
                <a:spcPts val="600"/>
              </a:spcBef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963084" y="4406903"/>
            <a:ext cx="10363201" cy="1362076"/>
          </a:xfrm>
          <a:prstGeom prst="rect">
            <a:avLst/>
          </a:prstGeom>
        </p:spPr>
        <p:txBody>
          <a:bodyPr anchor="t"/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228600" indent="4572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228600" indent="9144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228600" indent="13716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228600" indent="18288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 indent="-406400">
              <a:spcBef>
                <a:spcPts val="500"/>
              </a:spcBef>
              <a:buSzPts val="2800"/>
              <a:defRPr sz="2800"/>
            </a:lvl1pPr>
            <a:lvl2pPr marL="977900" indent="-444500">
              <a:spcBef>
                <a:spcPts val="500"/>
              </a:spcBef>
              <a:buSzPts val="2800"/>
              <a:defRPr sz="2800"/>
            </a:lvl2pPr>
            <a:lvl3pPr marL="1513839" indent="-497839">
              <a:spcBef>
                <a:spcPts val="500"/>
              </a:spcBef>
              <a:buSzPts val="2800"/>
              <a:defRPr sz="2800"/>
            </a:lvl3pPr>
            <a:lvl4pPr marL="2019300" indent="-533400">
              <a:spcBef>
                <a:spcPts val="500"/>
              </a:spcBef>
              <a:buSzPts val="2800"/>
              <a:defRPr sz="2800"/>
            </a:lvl4pPr>
            <a:lvl5pPr marL="2476500" indent="-533400">
              <a:spcBef>
                <a:spcPts val="500"/>
              </a:spcBef>
              <a:buSzPts val="2800"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Google Shape;36;p5"/>
          <p:cNvSpPr txBox="1"/>
          <p:nvPr>
            <p:ph type="body" sz="half" idx="21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/>
          <a:p>
            <a:pPr indent="-406400">
              <a:spcBef>
                <a:spcPts val="500"/>
              </a:spcBef>
              <a:buSzPts val="2800"/>
              <a:defRPr sz="2800"/>
            </a:pP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400"/>
              </a:spcBef>
              <a:buClrTx/>
              <a:buSzTx/>
              <a:buFontTx/>
              <a:buNone/>
              <a:defRPr b="1" sz="2400"/>
            </a:lvl1pPr>
            <a:lvl2pPr marL="228600" indent="457200">
              <a:spcBef>
                <a:spcPts val="400"/>
              </a:spcBef>
              <a:buClrTx/>
              <a:buSzTx/>
              <a:buFontTx/>
              <a:buNone/>
              <a:defRPr b="1" sz="2400"/>
            </a:lvl2pPr>
            <a:lvl3pPr marL="228600" indent="914400">
              <a:spcBef>
                <a:spcPts val="400"/>
              </a:spcBef>
              <a:buClrTx/>
              <a:buSzTx/>
              <a:buFontTx/>
              <a:buNone/>
              <a:defRPr b="1" sz="2400"/>
            </a:lvl3pPr>
            <a:lvl4pPr marL="228600" indent="1371600">
              <a:spcBef>
                <a:spcPts val="400"/>
              </a:spcBef>
              <a:buClrTx/>
              <a:buSzTx/>
              <a:buFontTx/>
              <a:buNone/>
              <a:defRPr b="1" sz="2400"/>
            </a:lvl4pPr>
            <a:lvl5pPr marL="228600" indent="1828800">
              <a:spcBef>
                <a:spcPts val="400"/>
              </a:spcBef>
              <a:buClrTx/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Google Shape;43;p6"/>
          <p:cNvSpPr txBox="1"/>
          <p:nvPr>
            <p:ph type="body" sz="half" idx="21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/>
          <a:p>
            <a:pPr indent="-381000">
              <a:spcBef>
                <a:spcPts val="400"/>
              </a:spcBef>
              <a:buSzPts val="2400"/>
              <a:defRPr sz="2400"/>
            </a:pPr>
          </a:p>
        </p:txBody>
      </p:sp>
      <p:sp>
        <p:nvSpPr>
          <p:cNvPr id="51" name="Google Shape;44;p6"/>
          <p:cNvSpPr txBox="1"/>
          <p:nvPr>
            <p:ph type="body" sz="quarter" idx="22"/>
          </p:nvPr>
        </p:nvSpPr>
        <p:spPr>
          <a:xfrm>
            <a:off x="6193368" y="1535112"/>
            <a:ext cx="5389034" cy="639763"/>
          </a:xfrm>
          <a:prstGeom prst="rect">
            <a:avLst/>
          </a:prstGeom>
        </p:spPr>
        <p:txBody>
          <a:bodyPr anchor="b"/>
          <a:lstStyle/>
          <a:p>
            <a:pPr marL="228600" indent="0">
              <a:spcBef>
                <a:spcPts val="400"/>
              </a:spcBef>
              <a:buClrTx/>
              <a:buSzTx/>
              <a:buFontTx/>
              <a:buNone/>
              <a:defRPr b="1" sz="2400"/>
            </a:pPr>
          </a:p>
        </p:txBody>
      </p:sp>
      <p:sp>
        <p:nvSpPr>
          <p:cNvPr id="52" name="Google Shape;45;p6"/>
          <p:cNvSpPr txBox="1"/>
          <p:nvPr>
            <p:ph type="body" sz="half" idx="23"/>
          </p:nvPr>
        </p:nvSpPr>
        <p:spPr>
          <a:xfrm>
            <a:off x="6193368" y="2174875"/>
            <a:ext cx="5389034" cy="3951288"/>
          </a:xfrm>
          <a:prstGeom prst="rect">
            <a:avLst/>
          </a:prstGeom>
        </p:spPr>
        <p:txBody>
          <a:bodyPr/>
          <a:lstStyle/>
          <a:p>
            <a:pPr indent="-381000">
              <a:spcBef>
                <a:spcPts val="400"/>
              </a:spcBef>
              <a:buSzPts val="2400"/>
              <a:defRPr sz="2400"/>
            </a:pP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xfrm>
            <a:off x="609601" y="273050"/>
            <a:ext cx="401108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 indent="-431800">
              <a:spcBef>
                <a:spcPts val="600"/>
              </a:spcBef>
            </a:lvl1pPr>
            <a:lvl2pPr marL="972457" indent="-464457">
              <a:spcBef>
                <a:spcPts val="600"/>
              </a:spcBef>
            </a:lvl2pPr>
            <a:lvl3pPr marL="1498600" indent="-508000">
              <a:spcBef>
                <a:spcPts val="600"/>
              </a:spcBef>
            </a:lvl3pPr>
            <a:lvl4pPr marL="2042160" indent="-568960">
              <a:spcBef>
                <a:spcPts val="600"/>
              </a:spcBef>
            </a:lvl4pPr>
            <a:lvl5pPr marL="2499360" indent="-568960">
              <a:spcBef>
                <a:spcPts val="6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Google Shape;61;p9"/>
          <p:cNvSpPr txBox="1"/>
          <p:nvPr>
            <p:ph type="body" sz="half" idx="21"/>
          </p:nvPr>
        </p:nvSpPr>
        <p:spPr>
          <a:xfrm>
            <a:off x="609601" y="1435103"/>
            <a:ext cx="4011085" cy="4691063"/>
          </a:xfrm>
          <a:prstGeom prst="rect">
            <a:avLst/>
          </a:prstGeom>
        </p:spPr>
        <p:txBody>
          <a:bodyPr/>
          <a:lstStyle/>
          <a:p>
            <a:pPr marL="228600" indent="0">
              <a:spcBef>
                <a:spcPts val="200"/>
              </a:spcBef>
              <a:buClrTx/>
              <a:buSzTx/>
              <a:buFontTx/>
              <a:buNone/>
              <a:defRPr sz="1400"/>
            </a:pP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/>
          <p:nvPr>
            <p:ph type="title"/>
          </p:nvPr>
        </p:nvSpPr>
        <p:spPr>
          <a:xfrm>
            <a:off x="2389716" y="4800600"/>
            <a:ext cx="73152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6" name="Google Shape;67;p10"/>
          <p:cNvSpPr/>
          <p:nvPr>
            <p:ph type="pic" sz="half" idx="21"/>
          </p:nvPr>
        </p:nvSpPr>
        <p:spPr>
          <a:xfrm>
            <a:off x="2389716" y="612775"/>
            <a:ext cx="7315201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7" name="Body Level One…"/>
          <p:cNvSpPr txBox="1"/>
          <p:nvPr>
            <p:ph type="body" sz="quarter" idx="1"/>
          </p:nvPr>
        </p:nvSpPr>
        <p:spPr>
          <a:xfrm>
            <a:off x="2389716" y="5367337"/>
            <a:ext cx="7315201" cy="804863"/>
          </a:xfrm>
          <a:prstGeom prst="rect">
            <a:avLst/>
          </a:prstGeom>
        </p:spPr>
        <p:txBody>
          <a:bodyPr/>
          <a:lstStyle>
            <a:lvl1pPr marL="228600" indent="0">
              <a:spcBef>
                <a:spcPts val="200"/>
              </a:spcBef>
              <a:buClrTx/>
              <a:buSzTx/>
              <a:buFontTx/>
              <a:buNone/>
              <a:defRPr sz="1400"/>
            </a:lvl1pPr>
            <a:lvl2pPr marL="228600" indent="457200">
              <a:spcBef>
                <a:spcPts val="200"/>
              </a:spcBef>
              <a:buClrTx/>
              <a:buSzTx/>
              <a:buFontTx/>
              <a:buNone/>
              <a:defRPr sz="1400"/>
            </a:lvl2pPr>
            <a:lvl3pPr marL="228600" indent="914400">
              <a:spcBef>
                <a:spcPts val="200"/>
              </a:spcBef>
              <a:buClrTx/>
              <a:buSzTx/>
              <a:buFontTx/>
              <a:buNone/>
              <a:defRPr sz="1400"/>
            </a:lvl3pPr>
            <a:lvl4pPr marL="228600" indent="1371600">
              <a:spcBef>
                <a:spcPts val="200"/>
              </a:spcBef>
              <a:buClrTx/>
              <a:buSzTx/>
              <a:buFontTx/>
              <a:buNone/>
              <a:defRPr sz="1400"/>
            </a:lvl4pPr>
            <a:lvl5pPr marL="228600" indent="1828800">
              <a:spcBef>
                <a:spcPts val="200"/>
              </a:spcBef>
              <a:buClrTx/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idx="1"/>
          </p:nvPr>
        </p:nvSpPr>
        <p:spPr>
          <a:xfrm rot="5400000">
            <a:off x="3580605" y="-1875632"/>
            <a:ext cx="5030789" cy="109728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/>
          <p:nvPr>
            <p:ph type="title"/>
          </p:nvPr>
        </p:nvSpPr>
        <p:spPr>
          <a:xfrm rot="5400000">
            <a:off x="7285038" y="1828804"/>
            <a:ext cx="5851526" cy="27432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5" name="Body Level One…"/>
          <p:cNvSpPr txBox="1"/>
          <p:nvPr>
            <p:ph type="body" idx="1"/>
          </p:nvPr>
        </p:nvSpPr>
        <p:spPr>
          <a:xfrm rot="5400000">
            <a:off x="1697038" y="-812796"/>
            <a:ext cx="5851526" cy="80264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Oswald"/>
          <a:ea typeface="Oswald"/>
          <a:cs typeface="Oswald"/>
          <a:sym typeface="Oswa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Oswald"/>
          <a:ea typeface="Oswald"/>
          <a:cs typeface="Oswald"/>
          <a:sym typeface="Oswa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Oswald"/>
          <a:ea typeface="Oswald"/>
          <a:cs typeface="Oswald"/>
          <a:sym typeface="Oswa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Oswald"/>
          <a:ea typeface="Oswald"/>
          <a:cs typeface="Oswald"/>
          <a:sym typeface="Oswa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Oswald"/>
          <a:ea typeface="Oswald"/>
          <a:cs typeface="Oswald"/>
          <a:sym typeface="Oswa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Oswald"/>
          <a:ea typeface="Oswald"/>
          <a:cs typeface="Oswald"/>
          <a:sym typeface="Oswa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Oswald"/>
          <a:ea typeface="Oswald"/>
          <a:cs typeface="Oswald"/>
          <a:sym typeface="Oswa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Oswald"/>
          <a:ea typeface="Oswald"/>
          <a:cs typeface="Oswald"/>
          <a:sym typeface="Oswa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Oswald"/>
          <a:ea typeface="Oswald"/>
          <a:cs typeface="Oswald"/>
          <a:sym typeface="Oswald"/>
        </a:defRPr>
      </a:lvl9pPr>
    </p:titleStyle>
    <p:bodyStyle>
      <a:lvl1pPr marL="4572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Oswald"/>
          <a:ea typeface="Oswald"/>
          <a:cs typeface="Oswald"/>
          <a:sym typeface="Oswald"/>
        </a:defRPr>
      </a:lvl1pPr>
      <a:lvl2pPr marL="963385" marR="0" indent="-391885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Oswald"/>
          <a:ea typeface="Oswald"/>
          <a:cs typeface="Oswald"/>
          <a:sym typeface="Oswald"/>
        </a:defRPr>
      </a:lvl2pPr>
      <a:lvl3pPr marL="1485900" marR="0" indent="-4572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Oswald"/>
          <a:ea typeface="Oswald"/>
          <a:cs typeface="Oswald"/>
          <a:sym typeface="Oswald"/>
        </a:defRPr>
      </a:lvl3pPr>
      <a:lvl4pPr marL="2034539" marR="0" indent="-54863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Oswald"/>
          <a:ea typeface="Oswald"/>
          <a:cs typeface="Oswald"/>
          <a:sym typeface="Oswald"/>
        </a:defRPr>
      </a:lvl4pPr>
      <a:lvl5pPr marL="2491739" marR="0" indent="-54863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Oswald"/>
          <a:ea typeface="Oswald"/>
          <a:cs typeface="Oswald"/>
          <a:sym typeface="Oswald"/>
        </a:defRPr>
      </a:lvl5pPr>
      <a:lvl6pPr marL="2948939" marR="0" indent="-54863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Oswald"/>
          <a:ea typeface="Oswald"/>
          <a:cs typeface="Oswald"/>
          <a:sym typeface="Oswald"/>
        </a:defRPr>
      </a:lvl6pPr>
      <a:lvl7pPr marL="3406140" marR="0" indent="-54864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Oswald"/>
          <a:ea typeface="Oswald"/>
          <a:cs typeface="Oswald"/>
          <a:sym typeface="Oswald"/>
        </a:defRPr>
      </a:lvl7pPr>
      <a:lvl8pPr marL="3863340" marR="0" indent="-54864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Oswald"/>
          <a:ea typeface="Oswald"/>
          <a:cs typeface="Oswald"/>
          <a:sym typeface="Oswald"/>
        </a:defRPr>
      </a:lvl8pPr>
      <a:lvl9pPr marL="4320540" marR="0" indent="-54864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Oswald"/>
          <a:ea typeface="Oswald"/>
          <a:cs typeface="Oswald"/>
          <a:sym typeface="Oswald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Oswal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Oswal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Oswal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Oswal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Oswal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Oswal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Oswal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Oswal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Oswald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6" name="Google Shape;90;p13"/>
          <p:cNvSpPr txBox="1"/>
          <p:nvPr>
            <p:ph type="ctrTitle"/>
          </p:nvPr>
        </p:nvSpPr>
        <p:spPr>
          <a:xfrm>
            <a:off x="2773049" y="298624"/>
            <a:ext cx="6552001" cy="870301"/>
          </a:xfrm>
          <a:prstGeom prst="rect">
            <a:avLst/>
          </a:prstGeom>
        </p:spPr>
        <p:txBody>
          <a:bodyPr/>
          <a:lstStyle>
            <a:lvl1pPr>
              <a:defRPr b="1" sz="4000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TEKATHON-5.0- 2026</a:t>
            </a:r>
          </a:p>
        </p:txBody>
      </p:sp>
      <p:sp>
        <p:nvSpPr>
          <p:cNvPr id="117" name="Google Shape;91;p13"/>
          <p:cNvSpPr txBox="1"/>
          <p:nvPr/>
        </p:nvSpPr>
        <p:spPr>
          <a:xfrm>
            <a:off x="575097" y="2052310"/>
            <a:ext cx="11041806" cy="3899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ts val="2400"/>
              <a:buFont typeface="Arial"/>
              <a:buChar char="•"/>
              <a:defRPr b="1" sz="2400"/>
            </a:pPr>
            <a:r>
              <a:t>Problem Statement ID – </a:t>
            </a:r>
            <a:r>
              <a:rPr b="0"/>
              <a:t>SIH26164</a:t>
            </a:r>
          </a:p>
          <a:p>
            <a:pPr marL="285750" indent="-285750" algn="just">
              <a:buClr>
                <a:srgbClr val="000000"/>
              </a:buClr>
              <a:buSzPts val="2400"/>
              <a:buFont typeface="Arial"/>
              <a:buChar char="•"/>
              <a:defRPr b="1" sz="2400"/>
            </a:pPr>
            <a:r>
              <a:t>Problem Statement Title- </a:t>
            </a:r>
            <a:r>
              <a:rPr b="0"/>
              <a:t>Enterprise Cryptographic Discovery &amp; Analysis Tool (ECDAT) </a:t>
            </a:r>
            <a:endParaRPr b="0"/>
          </a:p>
          <a:p>
            <a:pPr algn="just">
              <a:defRPr b="1" sz="2400"/>
            </a:pPr>
            <a:endParaRPr b="0"/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ts val="2400"/>
              <a:buFont typeface="Arial"/>
              <a:buChar char="•"/>
              <a:defRPr b="1" sz="2400"/>
            </a:pPr>
            <a:r>
              <a:t>Theme- </a:t>
            </a:r>
            <a:r>
              <a:rPr b="0"/>
              <a:t>Blockchain &amp; Cybersecurity</a:t>
            </a:r>
            <a:endParaRPr b="0"/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ts val="2400"/>
              <a:buFont typeface="Arial"/>
              <a:buChar char="•"/>
              <a:defRPr b="1" sz="2400"/>
            </a:pPr>
            <a:r>
              <a:t>PS Category- </a:t>
            </a:r>
            <a:r>
              <a:rPr b="0"/>
              <a:t>Software</a:t>
            </a:r>
            <a:endParaRPr b="0"/>
          </a:p>
          <a:p>
            <a:pPr marL="285750" indent="-285750" algn="just">
              <a:lnSpc>
                <a:spcPct val="200000"/>
              </a:lnSpc>
              <a:buClr>
                <a:srgbClr val="000000"/>
              </a:buClr>
              <a:buSzPts val="2400"/>
              <a:buFont typeface="Arial"/>
              <a:buChar char="•"/>
              <a:defRPr b="1" sz="2400"/>
            </a:pPr>
            <a:r>
              <a:t>Team Name - </a:t>
            </a:r>
            <a:r>
              <a:rPr b="0"/>
              <a:t>Cognitrail</a:t>
            </a:r>
          </a:p>
        </p:txBody>
      </p:sp>
      <p:pic>
        <p:nvPicPr>
          <p:cNvPr id="118" name="crazy.pngGoogle Shape;92;p13" descr="crazy.pngGoogle Shape;92;p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77524" y="298623"/>
            <a:ext cx="1167751" cy="1025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SIH-Logo.pngGoogle Shape;93;p13" descr="SIH-Logo.pngGoogle Shape;93;p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7979" y="280890"/>
            <a:ext cx="1724026" cy="876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03;p14"/>
          <p:cNvSpPr txBox="1"/>
          <p:nvPr/>
        </p:nvSpPr>
        <p:spPr>
          <a:xfrm>
            <a:off x="4693925" y="6404315"/>
            <a:ext cx="3112551" cy="26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pPr/>
            <a:r>
              <a:t>@TEKATHON-4.0- Template</a:t>
            </a:r>
          </a:p>
        </p:txBody>
      </p:sp>
      <p:sp>
        <p:nvSpPr>
          <p:cNvPr id="122" name="Google Shape;99;p14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02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800">
                <a:solidFill>
                  <a:srgbClr val="953734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3" name="Google Shape;100;p14"/>
          <p:cNvSpPr txBox="1"/>
          <p:nvPr>
            <p:ph type="title"/>
          </p:nvPr>
        </p:nvSpPr>
        <p:spPr>
          <a:xfrm>
            <a:off x="182997" y="0"/>
            <a:ext cx="10972801" cy="1143000"/>
          </a:xfrm>
          <a:prstGeom prst="rect">
            <a:avLst/>
          </a:prstGeom>
        </p:spPr>
        <p:txBody>
          <a:bodyPr/>
          <a:lstStyle/>
          <a:p>
            <a: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br/>
            <a:r>
              <a:t>IDEA TITLE</a:t>
            </a:r>
          </a:p>
        </p:txBody>
      </p:sp>
      <p:sp>
        <p:nvSpPr>
          <p:cNvPr id="124" name="Google Shape;101;p14"/>
          <p:cNvSpPr txBox="1"/>
          <p:nvPr/>
        </p:nvSpPr>
        <p:spPr>
          <a:xfrm>
            <a:off x="1684024" y="1450950"/>
            <a:ext cx="8823951" cy="57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200">
                <a:solidFill>
                  <a:srgbClr val="F3702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Enterprise Cryptographic Posture Management </a:t>
            </a:r>
          </a:p>
        </p:txBody>
      </p:sp>
      <p:sp>
        <p:nvSpPr>
          <p:cNvPr id="125" name="Google Shape;102;p14"/>
          <p:cNvSpPr txBox="1"/>
          <p:nvPr>
            <p:ph type="sldNum" sz="quarter" idx="2"/>
          </p:nvPr>
        </p:nvSpPr>
        <p:spPr>
          <a:xfrm>
            <a:off x="11393542" y="6404315"/>
            <a:ext cx="188858" cy="2692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126" name="crazy.pngGoogle Shape;104;p14" descr="crazy.pngGoogle Shape;104;p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77524" y="298623"/>
            <a:ext cx="1167751" cy="1025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SIH-Logo.pngGoogle Shape;105;p14" descr="SIH-Logo.pngGoogle Shape;105;p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7979" y="280890"/>
            <a:ext cx="1724026" cy="8763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0" name="Rectangle: Rounded Corners 71"/>
          <p:cNvGrpSpPr/>
          <p:nvPr/>
        </p:nvGrpSpPr>
        <p:grpSpPr>
          <a:xfrm>
            <a:off x="294540" y="2486088"/>
            <a:ext cx="3460850" cy="3407536"/>
            <a:chOff x="0" y="0"/>
            <a:chExt cx="3460848" cy="3407535"/>
          </a:xfrm>
        </p:grpSpPr>
        <p:sp>
          <p:nvSpPr>
            <p:cNvPr id="128" name="Rounded Rectangle"/>
            <p:cNvSpPr/>
            <p:nvPr/>
          </p:nvSpPr>
          <p:spPr>
            <a:xfrm>
              <a:off x="0" y="0"/>
              <a:ext cx="3460849" cy="34075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 cap="flat">
              <a:solidFill>
                <a:srgbClr val="21365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9" name="Proposed Solution…"/>
            <p:cNvSpPr txBox="1"/>
            <p:nvPr/>
          </p:nvSpPr>
          <p:spPr>
            <a:xfrm>
              <a:off x="224761" y="327455"/>
              <a:ext cx="3011326" cy="27526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800">
                  <a:solidFill>
                    <a:srgbClr val="F59E0B"/>
                  </a:solidFill>
                  <a:latin typeface="Poppins"/>
                  <a:ea typeface="Poppins"/>
                  <a:cs typeface="Poppins"/>
                  <a:sym typeface="Poppins"/>
                </a:defRPr>
              </a:pPr>
              <a:r>
                <a:t>Proposed Solution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b="1" sz="1800">
                  <a:solidFill>
                    <a:srgbClr val="F59E0B"/>
                  </a:solidFill>
                  <a:latin typeface="Poppins"/>
                  <a:ea typeface="Poppins"/>
                  <a:cs typeface="Poppins"/>
                  <a:sym typeface="Poppins"/>
                </a:defRPr>
              </a:pPr>
            </a:p>
            <a:p>
              <a:pPr>
                <a:defRPr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defRPr>
              </a:pPr>
              <a:r>
                <a:t>1. Tri-Modal Discovery: </a:t>
              </a:r>
              <a:r>
                <a:rPr b="0"/>
                <a:t>Fuses AST, network (TLS) &amp; binary scans.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defRPr>
              </a:pPr>
              <a:r>
                <a:t>2. Unified Dashboard:</a:t>
              </a:r>
              <a:r>
                <a:rPr b="0"/>
                <a:t> Single-pane enterprise crypto inventory.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defRPr>
              </a:pPr>
              <a:r>
                <a:t>3. Automated Compliance:</a:t>
              </a:r>
              <a:r>
                <a:rPr b="0"/>
                <a:t> Real-time CycloneDX v1.6 CBOM.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133" name="Rectangle: Rounded Corners 73"/>
          <p:cNvGrpSpPr/>
          <p:nvPr/>
        </p:nvGrpSpPr>
        <p:grpSpPr>
          <a:xfrm>
            <a:off x="4241165" y="2510864"/>
            <a:ext cx="3460849" cy="3407537"/>
            <a:chOff x="0" y="0"/>
            <a:chExt cx="3460848" cy="3407535"/>
          </a:xfrm>
        </p:grpSpPr>
        <p:sp>
          <p:nvSpPr>
            <p:cNvPr id="131" name="Rounded Rectangle"/>
            <p:cNvSpPr/>
            <p:nvPr/>
          </p:nvSpPr>
          <p:spPr>
            <a:xfrm>
              <a:off x="0" y="0"/>
              <a:ext cx="3460849" cy="34075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 cap="flat">
              <a:solidFill>
                <a:srgbClr val="21365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ct val="149960"/>
                </a:lnSpc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2" name="Addressing the Problem…"/>
            <p:cNvSpPr txBox="1"/>
            <p:nvPr/>
          </p:nvSpPr>
          <p:spPr>
            <a:xfrm>
              <a:off x="224761" y="365952"/>
              <a:ext cx="3011326" cy="26756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b="1" sz="1800">
                  <a:solidFill>
                    <a:srgbClr val="F59E0B"/>
                  </a:solidFill>
                  <a:latin typeface="Poppins"/>
                  <a:ea typeface="Poppins"/>
                  <a:cs typeface="Poppins"/>
                  <a:sym typeface="Poppins"/>
                </a:defRPr>
              </a:pPr>
              <a:r>
                <a:t>Addressing the Problem</a:t>
              </a:r>
              <a:endParaRPr sz="1600"/>
            </a:p>
            <a:p>
              <a:pPr algn="ctr">
                <a:defRPr b="1" sz="1800">
                  <a:solidFill>
                    <a:srgbClr val="F59E0B"/>
                  </a:solidFill>
                  <a:latin typeface="Poppins"/>
                  <a:ea typeface="Poppins"/>
                  <a:cs typeface="Poppins"/>
                  <a:sym typeface="Poppins"/>
                </a:defRPr>
              </a:pPr>
            </a:p>
            <a:p>
              <a:pPr>
                <a:defRPr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defRPr>
              </a:pPr>
              <a:r>
                <a:t>1. Zero Alert Fatigue:</a:t>
              </a:r>
              <a:r>
                <a:rPr b="0"/>
                <a:t> Prunes false positives via reachability slicing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</a:p>
            <a:p>
              <a:pPr>
                <a:lnSpc>
                  <a:spcPct val="149960"/>
                </a:lnSpc>
                <a:defRPr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defRPr>
              </a:pPr>
              <a:r>
                <a:t>2. Finds Hidden Keys:</a:t>
              </a:r>
              <a:r>
                <a:rPr b="0"/>
                <a:t> Network</a:t>
              </a:r>
            </a:p>
            <a:p>
              <a:pPr>
                <a:lnSpc>
                  <a:spcPct val="149960"/>
                </a:lnSpc>
                <a:defRPr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defRPr>
              </a:pPr>
              <a:r>
                <a:t>probes catch what static scans miss.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</a:p>
            <a:p>
              <a:pPr>
                <a:lnSpc>
                  <a:spcPct val="149960"/>
                </a:lnSpc>
                <a:defRPr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defRPr>
              </a:pPr>
              <a:r>
                <a:t>3. Actionable Fixes:</a:t>
              </a:r>
              <a:r>
                <a:rPr b="0"/>
                <a:t> Precise, automated refactoring guidance.</a:t>
              </a:r>
            </a:p>
          </p:txBody>
        </p:sp>
      </p:grpSp>
      <p:grpSp>
        <p:nvGrpSpPr>
          <p:cNvPr id="136" name="Rectangle: Rounded Corners 75"/>
          <p:cNvGrpSpPr/>
          <p:nvPr/>
        </p:nvGrpSpPr>
        <p:grpSpPr>
          <a:xfrm>
            <a:off x="8187789" y="2486088"/>
            <a:ext cx="3460850" cy="3407536"/>
            <a:chOff x="0" y="0"/>
            <a:chExt cx="3460848" cy="3407535"/>
          </a:xfrm>
        </p:grpSpPr>
        <p:sp>
          <p:nvSpPr>
            <p:cNvPr id="134" name="Rounded Rectangle"/>
            <p:cNvSpPr/>
            <p:nvPr/>
          </p:nvSpPr>
          <p:spPr>
            <a:xfrm>
              <a:off x="0" y="0"/>
              <a:ext cx="3460849" cy="34075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 cap="flat">
              <a:solidFill>
                <a:srgbClr val="21365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5" name="Innovation &amp; Uniqueness…"/>
            <p:cNvSpPr txBox="1"/>
            <p:nvPr/>
          </p:nvSpPr>
          <p:spPr>
            <a:xfrm>
              <a:off x="224761" y="368946"/>
              <a:ext cx="3011326" cy="26696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b="1" sz="1800">
                  <a:solidFill>
                    <a:srgbClr val="F59E0B"/>
                  </a:solidFill>
                  <a:latin typeface="Poppins"/>
                  <a:ea typeface="Poppins"/>
                  <a:cs typeface="Poppins"/>
                  <a:sym typeface="Poppins"/>
                </a:defRPr>
              </a:pPr>
              <a:r>
                <a:t>Innovation &amp; Uniqueness</a:t>
              </a:r>
              <a:endParaRPr sz="1600"/>
            </a:p>
            <a:p>
              <a:pPr algn="ctr">
                <a:defRPr b="1" sz="1800">
                  <a:solidFill>
                    <a:srgbClr val="F59E0B"/>
                  </a:solidFill>
                  <a:latin typeface="Poppins"/>
                  <a:ea typeface="Poppins"/>
                  <a:cs typeface="Poppins"/>
                  <a:sym typeface="Poppins"/>
                </a:defRPr>
              </a:pPr>
            </a:p>
            <a:p>
              <a:pPr>
                <a:lnSpc>
                  <a:spcPct val="149960"/>
                </a:lnSpc>
                <a:defRPr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defRPr>
              </a:pPr>
              <a:r>
                <a:t>1. Mosca's Risk Engine:</a:t>
              </a:r>
              <a:r>
                <a:rPr b="0"/>
                <a:t> Prioritizes threats via </a:t>
              </a:r>
              <a:r>
                <a:rPr b="0" i="1"/>
                <a:t>"Harvest Now, Decrypt Later."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</a:p>
            <a:p>
              <a:pPr>
                <a:lnSpc>
                  <a:spcPct val="149960"/>
                </a:lnSpc>
                <a:defRPr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defRPr>
              </a:pPr>
              <a:r>
                <a:t>2. Blast-Radius Mapping:</a:t>
              </a:r>
              <a:r>
                <a:rPr b="0"/>
                <a:t> Neo4j maps failures before key rotation.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15;p15"/>
          <p:cNvSpPr txBox="1"/>
          <p:nvPr/>
        </p:nvSpPr>
        <p:spPr>
          <a:xfrm>
            <a:off x="4681724" y="6451940"/>
            <a:ext cx="3112551" cy="44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pPr/>
            <a:r>
              <a:t>@TEKATHON-3.0- Template</a:t>
            </a:r>
          </a:p>
        </p:txBody>
      </p:sp>
      <p:sp>
        <p:nvSpPr>
          <p:cNvPr id="139" name="Google Shape;117;p15"/>
          <p:cNvSpPr txBox="1"/>
          <p:nvPr/>
        </p:nvSpPr>
        <p:spPr>
          <a:xfrm>
            <a:off x="4693925" y="6404303"/>
            <a:ext cx="3112550" cy="26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pPr/>
            <a:r>
              <a:t>@TEKATHON-4.0- Template</a:t>
            </a:r>
          </a:p>
        </p:txBody>
      </p:sp>
      <p:sp>
        <p:nvSpPr>
          <p:cNvPr id="140" name="Google Shape;111;p15"/>
          <p:cNvSpPr/>
          <p:nvPr/>
        </p:nvSpPr>
        <p:spPr>
          <a:xfrm>
            <a:off x="0" y="6423821"/>
            <a:ext cx="12192000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02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defRPr sz="1800">
                <a:solidFill>
                  <a:srgbClr val="953734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1" name="Google Shape;114;p15"/>
          <p:cNvSpPr txBox="1"/>
          <p:nvPr>
            <p:ph type="sldNum" sz="quarter" idx="2"/>
          </p:nvPr>
        </p:nvSpPr>
        <p:spPr>
          <a:xfrm>
            <a:off x="11393542" y="6404315"/>
            <a:ext cx="188858" cy="2692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142" name="SIH-Logo.pngGoogle Shape;119;p15" descr="SIH-Logo.pngGoogle Shape;119;p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7979" y="280890"/>
            <a:ext cx="1724026" cy="876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CleanShot 2026-09-05 at 19.14.56@2x.png" descr="CleanShot 2026-09-05 at 19.14.56@2x.png"/>
          <p:cNvPicPr>
            <a:picLocks noChangeAspect="1"/>
          </p:cNvPicPr>
          <p:nvPr/>
        </p:nvPicPr>
        <p:blipFill>
          <a:blip r:embed="rId4">
            <a:extLst/>
          </a:blip>
          <a:srcRect l="1273" t="2287" r="1388" b="1454"/>
          <a:stretch>
            <a:fillRect/>
          </a:stretch>
        </p:blipFill>
        <p:spPr>
          <a:xfrm>
            <a:off x="3870072" y="965375"/>
            <a:ext cx="8261324" cy="57893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9" h="21600" fill="norm" stroke="1" extrusionOk="0">
                <a:moveTo>
                  <a:pt x="13168" y="20604"/>
                </a:moveTo>
                <a:cubicBezTo>
                  <a:pt x="13206" y="20706"/>
                  <a:pt x="13203" y="21497"/>
                  <a:pt x="13164" y="21552"/>
                </a:cubicBezTo>
                <a:cubicBezTo>
                  <a:pt x="13142" y="21584"/>
                  <a:pt x="12385" y="21600"/>
                  <a:pt x="11629" y="21600"/>
                </a:cubicBezTo>
                <a:cubicBezTo>
                  <a:pt x="10873" y="21600"/>
                  <a:pt x="10116" y="21584"/>
                  <a:pt x="10094" y="21552"/>
                </a:cubicBezTo>
                <a:cubicBezTo>
                  <a:pt x="10051" y="21492"/>
                  <a:pt x="10051" y="20638"/>
                  <a:pt x="10094" y="20577"/>
                </a:cubicBezTo>
                <a:cubicBezTo>
                  <a:pt x="10117" y="20544"/>
                  <a:pt x="10494" y="20533"/>
                  <a:pt x="11633" y="20533"/>
                </a:cubicBezTo>
                <a:cubicBezTo>
                  <a:pt x="13098" y="20533"/>
                  <a:pt x="13143" y="20535"/>
                  <a:pt x="13168" y="20604"/>
                </a:cubicBezTo>
                <a:close/>
                <a:moveTo>
                  <a:pt x="14621" y="7990"/>
                </a:moveTo>
                <a:cubicBezTo>
                  <a:pt x="14602" y="8035"/>
                  <a:pt x="14199" y="8366"/>
                  <a:pt x="14152" y="8376"/>
                </a:cubicBezTo>
                <a:cubicBezTo>
                  <a:pt x="14132" y="8380"/>
                  <a:pt x="14107" y="8400"/>
                  <a:pt x="14098" y="8419"/>
                </a:cubicBezTo>
                <a:cubicBezTo>
                  <a:pt x="14088" y="8439"/>
                  <a:pt x="14037" y="8493"/>
                  <a:pt x="13984" y="8539"/>
                </a:cubicBezTo>
                <a:cubicBezTo>
                  <a:pt x="13931" y="8585"/>
                  <a:pt x="13888" y="8639"/>
                  <a:pt x="13888" y="8658"/>
                </a:cubicBezTo>
                <a:cubicBezTo>
                  <a:pt x="13888" y="8678"/>
                  <a:pt x="13877" y="8685"/>
                  <a:pt x="13864" y="8673"/>
                </a:cubicBezTo>
                <a:cubicBezTo>
                  <a:pt x="13851" y="8662"/>
                  <a:pt x="13769" y="8712"/>
                  <a:pt x="13682" y="8785"/>
                </a:cubicBezTo>
                <a:cubicBezTo>
                  <a:pt x="13595" y="8858"/>
                  <a:pt x="13507" y="8921"/>
                  <a:pt x="13486" y="8925"/>
                </a:cubicBezTo>
                <a:cubicBezTo>
                  <a:pt x="13465" y="8930"/>
                  <a:pt x="13440" y="8950"/>
                  <a:pt x="13430" y="8971"/>
                </a:cubicBezTo>
                <a:cubicBezTo>
                  <a:pt x="13421" y="8992"/>
                  <a:pt x="13387" y="9029"/>
                  <a:pt x="13355" y="9053"/>
                </a:cubicBezTo>
                <a:cubicBezTo>
                  <a:pt x="13322" y="9077"/>
                  <a:pt x="13303" y="9113"/>
                  <a:pt x="13311" y="9132"/>
                </a:cubicBezTo>
                <a:cubicBezTo>
                  <a:pt x="13320" y="9152"/>
                  <a:pt x="13579" y="9167"/>
                  <a:pt x="13936" y="9167"/>
                </a:cubicBezTo>
                <a:cubicBezTo>
                  <a:pt x="14376" y="9167"/>
                  <a:pt x="14554" y="9179"/>
                  <a:pt x="14576" y="9211"/>
                </a:cubicBezTo>
                <a:cubicBezTo>
                  <a:pt x="14617" y="9269"/>
                  <a:pt x="14619" y="10344"/>
                  <a:pt x="14579" y="10402"/>
                </a:cubicBezTo>
                <a:cubicBezTo>
                  <a:pt x="14538" y="10460"/>
                  <a:pt x="14567" y="10477"/>
                  <a:pt x="14921" y="10599"/>
                </a:cubicBezTo>
                <a:cubicBezTo>
                  <a:pt x="15094" y="10658"/>
                  <a:pt x="15265" y="10726"/>
                  <a:pt x="15300" y="10750"/>
                </a:cubicBezTo>
                <a:cubicBezTo>
                  <a:pt x="15335" y="10773"/>
                  <a:pt x="15374" y="10789"/>
                  <a:pt x="15387" y="10785"/>
                </a:cubicBezTo>
                <a:cubicBezTo>
                  <a:pt x="15416" y="10774"/>
                  <a:pt x="16195" y="11108"/>
                  <a:pt x="16263" y="11159"/>
                </a:cubicBezTo>
                <a:cubicBezTo>
                  <a:pt x="16291" y="11181"/>
                  <a:pt x="16323" y="11195"/>
                  <a:pt x="16335" y="11190"/>
                </a:cubicBezTo>
                <a:cubicBezTo>
                  <a:pt x="16367" y="11177"/>
                  <a:pt x="17028" y="11479"/>
                  <a:pt x="17068" y="11526"/>
                </a:cubicBezTo>
                <a:cubicBezTo>
                  <a:pt x="17088" y="11548"/>
                  <a:pt x="17121" y="11567"/>
                  <a:pt x="17143" y="11568"/>
                </a:cubicBezTo>
                <a:cubicBezTo>
                  <a:pt x="17165" y="11568"/>
                  <a:pt x="17188" y="11591"/>
                  <a:pt x="17194" y="11620"/>
                </a:cubicBezTo>
                <a:cubicBezTo>
                  <a:pt x="17203" y="11658"/>
                  <a:pt x="17194" y="11664"/>
                  <a:pt x="17158" y="11644"/>
                </a:cubicBezTo>
                <a:cubicBezTo>
                  <a:pt x="16843" y="11466"/>
                  <a:pt x="15733" y="10982"/>
                  <a:pt x="15120" y="10756"/>
                </a:cubicBezTo>
                <a:cubicBezTo>
                  <a:pt x="14873" y="10665"/>
                  <a:pt x="14661" y="10576"/>
                  <a:pt x="14649" y="10559"/>
                </a:cubicBezTo>
                <a:cubicBezTo>
                  <a:pt x="14636" y="10543"/>
                  <a:pt x="14612" y="10537"/>
                  <a:pt x="14594" y="10547"/>
                </a:cubicBezTo>
                <a:cubicBezTo>
                  <a:pt x="14576" y="10556"/>
                  <a:pt x="14492" y="10538"/>
                  <a:pt x="14407" y="10507"/>
                </a:cubicBezTo>
                <a:cubicBezTo>
                  <a:pt x="14237" y="10444"/>
                  <a:pt x="13287" y="10423"/>
                  <a:pt x="13261" y="10481"/>
                </a:cubicBezTo>
                <a:cubicBezTo>
                  <a:pt x="13254" y="10499"/>
                  <a:pt x="13463" y="10701"/>
                  <a:pt x="13726" y="10931"/>
                </a:cubicBezTo>
                <a:cubicBezTo>
                  <a:pt x="13989" y="11160"/>
                  <a:pt x="14222" y="11372"/>
                  <a:pt x="14243" y="11402"/>
                </a:cubicBezTo>
                <a:cubicBezTo>
                  <a:pt x="14263" y="11431"/>
                  <a:pt x="14294" y="11458"/>
                  <a:pt x="14311" y="11462"/>
                </a:cubicBezTo>
                <a:cubicBezTo>
                  <a:pt x="14327" y="11465"/>
                  <a:pt x="14521" y="11626"/>
                  <a:pt x="14740" y="11820"/>
                </a:cubicBezTo>
                <a:cubicBezTo>
                  <a:pt x="14960" y="12013"/>
                  <a:pt x="15169" y="12187"/>
                  <a:pt x="15204" y="12206"/>
                </a:cubicBezTo>
                <a:cubicBezTo>
                  <a:pt x="15239" y="12225"/>
                  <a:pt x="15273" y="12275"/>
                  <a:pt x="15281" y="12317"/>
                </a:cubicBezTo>
                <a:cubicBezTo>
                  <a:pt x="15295" y="12392"/>
                  <a:pt x="15309" y="12393"/>
                  <a:pt x="16061" y="12397"/>
                </a:cubicBezTo>
                <a:cubicBezTo>
                  <a:pt x="16483" y="12400"/>
                  <a:pt x="16943" y="12412"/>
                  <a:pt x="17084" y="12425"/>
                </a:cubicBezTo>
                <a:lnTo>
                  <a:pt x="17341" y="12448"/>
                </a:lnTo>
                <a:lnTo>
                  <a:pt x="17348" y="12920"/>
                </a:lnTo>
                <a:cubicBezTo>
                  <a:pt x="17353" y="13236"/>
                  <a:pt x="17345" y="13408"/>
                  <a:pt x="17326" y="13442"/>
                </a:cubicBezTo>
                <a:cubicBezTo>
                  <a:pt x="17301" y="13484"/>
                  <a:pt x="17118" y="13493"/>
                  <a:pt x="16298" y="13493"/>
                </a:cubicBezTo>
                <a:lnTo>
                  <a:pt x="15299" y="13493"/>
                </a:lnTo>
                <a:lnTo>
                  <a:pt x="14761" y="13878"/>
                </a:lnTo>
                <a:cubicBezTo>
                  <a:pt x="14464" y="14090"/>
                  <a:pt x="14222" y="14254"/>
                  <a:pt x="14222" y="14243"/>
                </a:cubicBezTo>
                <a:cubicBezTo>
                  <a:pt x="14222" y="14232"/>
                  <a:pt x="14184" y="14264"/>
                  <a:pt x="14138" y="14314"/>
                </a:cubicBezTo>
                <a:cubicBezTo>
                  <a:pt x="14092" y="14364"/>
                  <a:pt x="13924" y="14497"/>
                  <a:pt x="13765" y="14609"/>
                </a:cubicBezTo>
                <a:cubicBezTo>
                  <a:pt x="13605" y="14722"/>
                  <a:pt x="13482" y="14831"/>
                  <a:pt x="13490" y="14850"/>
                </a:cubicBezTo>
                <a:cubicBezTo>
                  <a:pt x="13499" y="14870"/>
                  <a:pt x="13580" y="14886"/>
                  <a:pt x="13671" y="14886"/>
                </a:cubicBezTo>
                <a:cubicBezTo>
                  <a:pt x="13930" y="14886"/>
                  <a:pt x="13939" y="14909"/>
                  <a:pt x="13939" y="15579"/>
                </a:cubicBezTo>
                <a:cubicBezTo>
                  <a:pt x="13939" y="15988"/>
                  <a:pt x="13931" y="16134"/>
                  <a:pt x="13905" y="16165"/>
                </a:cubicBezTo>
                <a:cubicBezTo>
                  <a:pt x="13882" y="16192"/>
                  <a:pt x="13634" y="16209"/>
                  <a:pt x="13167" y="16215"/>
                </a:cubicBezTo>
                <a:lnTo>
                  <a:pt x="12463" y="16225"/>
                </a:lnTo>
                <a:lnTo>
                  <a:pt x="12449" y="16380"/>
                </a:lnTo>
                <a:cubicBezTo>
                  <a:pt x="12441" y="16465"/>
                  <a:pt x="12443" y="16548"/>
                  <a:pt x="12454" y="16563"/>
                </a:cubicBezTo>
                <a:cubicBezTo>
                  <a:pt x="12479" y="16599"/>
                  <a:pt x="12451" y="16903"/>
                  <a:pt x="12422" y="16903"/>
                </a:cubicBezTo>
                <a:cubicBezTo>
                  <a:pt x="12411" y="16903"/>
                  <a:pt x="12398" y="16750"/>
                  <a:pt x="12394" y="16564"/>
                </a:cubicBezTo>
                <a:lnTo>
                  <a:pt x="12386" y="16225"/>
                </a:lnTo>
                <a:lnTo>
                  <a:pt x="11915" y="16215"/>
                </a:lnTo>
                <a:cubicBezTo>
                  <a:pt x="11597" y="16208"/>
                  <a:pt x="11432" y="16218"/>
                  <a:pt x="11409" y="16245"/>
                </a:cubicBezTo>
                <a:cubicBezTo>
                  <a:pt x="11390" y="16268"/>
                  <a:pt x="11363" y="16276"/>
                  <a:pt x="11349" y="16264"/>
                </a:cubicBezTo>
                <a:cubicBezTo>
                  <a:pt x="11336" y="16252"/>
                  <a:pt x="11317" y="16259"/>
                  <a:pt x="11308" y="16280"/>
                </a:cubicBezTo>
                <a:cubicBezTo>
                  <a:pt x="11285" y="16334"/>
                  <a:pt x="11088" y="16472"/>
                  <a:pt x="11070" y="16447"/>
                </a:cubicBezTo>
                <a:cubicBezTo>
                  <a:pt x="11062" y="16436"/>
                  <a:pt x="11037" y="16450"/>
                  <a:pt x="11015" y="16479"/>
                </a:cubicBezTo>
                <a:cubicBezTo>
                  <a:pt x="10993" y="16507"/>
                  <a:pt x="10856" y="16607"/>
                  <a:pt x="10711" y="16701"/>
                </a:cubicBezTo>
                <a:lnTo>
                  <a:pt x="10448" y="16871"/>
                </a:lnTo>
                <a:lnTo>
                  <a:pt x="9826" y="16859"/>
                </a:lnTo>
                <a:lnTo>
                  <a:pt x="9203" y="16848"/>
                </a:lnTo>
                <a:lnTo>
                  <a:pt x="9196" y="17068"/>
                </a:lnTo>
                <a:cubicBezTo>
                  <a:pt x="9192" y="17189"/>
                  <a:pt x="9182" y="17313"/>
                  <a:pt x="9173" y="17343"/>
                </a:cubicBezTo>
                <a:cubicBezTo>
                  <a:pt x="9164" y="17373"/>
                  <a:pt x="9155" y="17415"/>
                  <a:pt x="9154" y="17435"/>
                </a:cubicBezTo>
                <a:cubicBezTo>
                  <a:pt x="9152" y="17459"/>
                  <a:pt x="8516" y="17475"/>
                  <a:pt x="7316" y="17481"/>
                </a:cubicBezTo>
                <a:cubicBezTo>
                  <a:pt x="5613" y="17490"/>
                  <a:pt x="5478" y="17486"/>
                  <a:pt x="5449" y="17428"/>
                </a:cubicBezTo>
                <a:cubicBezTo>
                  <a:pt x="5430" y="17392"/>
                  <a:pt x="5417" y="17254"/>
                  <a:pt x="5417" y="17097"/>
                </a:cubicBezTo>
                <a:cubicBezTo>
                  <a:pt x="5417" y="16893"/>
                  <a:pt x="5407" y="16822"/>
                  <a:pt x="5379" y="16807"/>
                </a:cubicBezTo>
                <a:cubicBezTo>
                  <a:pt x="5358" y="16795"/>
                  <a:pt x="5224" y="16822"/>
                  <a:pt x="5081" y="16865"/>
                </a:cubicBezTo>
                <a:cubicBezTo>
                  <a:pt x="4938" y="16909"/>
                  <a:pt x="4815" y="16935"/>
                  <a:pt x="4807" y="16924"/>
                </a:cubicBezTo>
                <a:cubicBezTo>
                  <a:pt x="4799" y="16913"/>
                  <a:pt x="4779" y="16920"/>
                  <a:pt x="4762" y="16939"/>
                </a:cubicBezTo>
                <a:cubicBezTo>
                  <a:pt x="4746" y="16959"/>
                  <a:pt x="4687" y="16988"/>
                  <a:pt x="4632" y="17005"/>
                </a:cubicBezTo>
                <a:lnTo>
                  <a:pt x="4531" y="17035"/>
                </a:lnTo>
                <a:lnTo>
                  <a:pt x="4523" y="17361"/>
                </a:lnTo>
                <a:cubicBezTo>
                  <a:pt x="4519" y="17541"/>
                  <a:pt x="4503" y="17709"/>
                  <a:pt x="4488" y="17735"/>
                </a:cubicBezTo>
                <a:cubicBezTo>
                  <a:pt x="4466" y="17773"/>
                  <a:pt x="4263" y="17783"/>
                  <a:pt x="3528" y="17783"/>
                </a:cubicBezTo>
                <a:cubicBezTo>
                  <a:pt x="2949" y="17783"/>
                  <a:pt x="2590" y="17797"/>
                  <a:pt x="2580" y="17819"/>
                </a:cubicBezTo>
                <a:cubicBezTo>
                  <a:pt x="2572" y="17839"/>
                  <a:pt x="2713" y="18272"/>
                  <a:pt x="2893" y="18781"/>
                </a:cubicBezTo>
                <a:lnTo>
                  <a:pt x="3222" y="19708"/>
                </a:lnTo>
                <a:lnTo>
                  <a:pt x="4554" y="19718"/>
                </a:lnTo>
                <a:cubicBezTo>
                  <a:pt x="5523" y="19724"/>
                  <a:pt x="5897" y="19739"/>
                  <a:pt x="5923" y="19770"/>
                </a:cubicBezTo>
                <a:cubicBezTo>
                  <a:pt x="5947" y="19799"/>
                  <a:pt x="5957" y="19873"/>
                  <a:pt x="5952" y="19998"/>
                </a:cubicBezTo>
                <a:cubicBezTo>
                  <a:pt x="5946" y="20175"/>
                  <a:pt x="5948" y="20183"/>
                  <a:pt x="6021" y="20206"/>
                </a:cubicBezTo>
                <a:cubicBezTo>
                  <a:pt x="6063" y="20220"/>
                  <a:pt x="6322" y="20317"/>
                  <a:pt x="6597" y="20424"/>
                </a:cubicBezTo>
                <a:cubicBezTo>
                  <a:pt x="6873" y="20530"/>
                  <a:pt x="7115" y="20617"/>
                  <a:pt x="7137" y="20617"/>
                </a:cubicBezTo>
                <a:cubicBezTo>
                  <a:pt x="7158" y="20617"/>
                  <a:pt x="7264" y="20723"/>
                  <a:pt x="7373" y="20852"/>
                </a:cubicBezTo>
                <a:lnTo>
                  <a:pt x="7570" y="21086"/>
                </a:lnTo>
                <a:lnTo>
                  <a:pt x="8678" y="21081"/>
                </a:lnTo>
                <a:cubicBezTo>
                  <a:pt x="9287" y="21079"/>
                  <a:pt x="9792" y="21088"/>
                  <a:pt x="9801" y="21100"/>
                </a:cubicBezTo>
                <a:cubicBezTo>
                  <a:pt x="9818" y="21124"/>
                  <a:pt x="9753" y="21199"/>
                  <a:pt x="9729" y="21184"/>
                </a:cubicBezTo>
                <a:cubicBezTo>
                  <a:pt x="9722" y="21179"/>
                  <a:pt x="9226" y="21171"/>
                  <a:pt x="8627" y="21166"/>
                </a:cubicBezTo>
                <a:lnTo>
                  <a:pt x="7538" y="21156"/>
                </a:lnTo>
                <a:lnTo>
                  <a:pt x="7357" y="20942"/>
                </a:lnTo>
                <a:cubicBezTo>
                  <a:pt x="7182" y="20736"/>
                  <a:pt x="7161" y="20722"/>
                  <a:pt x="6816" y="20589"/>
                </a:cubicBezTo>
                <a:cubicBezTo>
                  <a:pt x="6618" y="20512"/>
                  <a:pt x="6427" y="20434"/>
                  <a:pt x="6392" y="20414"/>
                </a:cubicBezTo>
                <a:cubicBezTo>
                  <a:pt x="6357" y="20394"/>
                  <a:pt x="6289" y="20372"/>
                  <a:pt x="6241" y="20365"/>
                </a:cubicBezTo>
                <a:cubicBezTo>
                  <a:pt x="6194" y="20358"/>
                  <a:pt x="6130" y="20329"/>
                  <a:pt x="6099" y="20300"/>
                </a:cubicBezTo>
                <a:cubicBezTo>
                  <a:pt x="5994" y="20202"/>
                  <a:pt x="5956" y="20280"/>
                  <a:pt x="5956" y="20588"/>
                </a:cubicBezTo>
                <a:cubicBezTo>
                  <a:pt x="5956" y="20737"/>
                  <a:pt x="5942" y="20902"/>
                  <a:pt x="5926" y="20953"/>
                </a:cubicBezTo>
                <a:lnTo>
                  <a:pt x="5896" y="21046"/>
                </a:lnTo>
                <a:lnTo>
                  <a:pt x="4156" y="21046"/>
                </a:lnTo>
                <a:cubicBezTo>
                  <a:pt x="2807" y="21046"/>
                  <a:pt x="2412" y="21036"/>
                  <a:pt x="2397" y="21001"/>
                </a:cubicBezTo>
                <a:cubicBezTo>
                  <a:pt x="2373" y="20947"/>
                  <a:pt x="2376" y="19820"/>
                  <a:pt x="2399" y="19765"/>
                </a:cubicBezTo>
                <a:cubicBezTo>
                  <a:pt x="2410" y="19741"/>
                  <a:pt x="2547" y="19726"/>
                  <a:pt x="2760" y="19726"/>
                </a:cubicBezTo>
                <a:cubicBezTo>
                  <a:pt x="3061" y="19726"/>
                  <a:pt x="3107" y="19718"/>
                  <a:pt x="3129" y="19662"/>
                </a:cubicBezTo>
                <a:cubicBezTo>
                  <a:pt x="3146" y="19618"/>
                  <a:pt x="3144" y="19581"/>
                  <a:pt x="3121" y="19543"/>
                </a:cubicBezTo>
                <a:cubicBezTo>
                  <a:pt x="3062" y="19445"/>
                  <a:pt x="2926" y="19061"/>
                  <a:pt x="2939" y="19031"/>
                </a:cubicBezTo>
                <a:cubicBezTo>
                  <a:pt x="2946" y="19015"/>
                  <a:pt x="2936" y="18983"/>
                  <a:pt x="2917" y="18961"/>
                </a:cubicBezTo>
                <a:cubicBezTo>
                  <a:pt x="2899" y="18939"/>
                  <a:pt x="2799" y="18685"/>
                  <a:pt x="2696" y="18397"/>
                </a:cubicBezTo>
                <a:cubicBezTo>
                  <a:pt x="2593" y="18110"/>
                  <a:pt x="2497" y="17854"/>
                  <a:pt x="2483" y="17829"/>
                </a:cubicBezTo>
                <a:cubicBezTo>
                  <a:pt x="2464" y="17794"/>
                  <a:pt x="2256" y="17783"/>
                  <a:pt x="1602" y="17783"/>
                </a:cubicBezTo>
                <a:cubicBezTo>
                  <a:pt x="782" y="17783"/>
                  <a:pt x="745" y="17780"/>
                  <a:pt x="720" y="17712"/>
                </a:cubicBezTo>
                <a:cubicBezTo>
                  <a:pt x="705" y="17673"/>
                  <a:pt x="693" y="17407"/>
                  <a:pt x="693" y="17113"/>
                </a:cubicBezTo>
                <a:cubicBezTo>
                  <a:pt x="693" y="16648"/>
                  <a:pt x="699" y="16577"/>
                  <a:pt x="740" y="16524"/>
                </a:cubicBezTo>
                <a:cubicBezTo>
                  <a:pt x="783" y="16469"/>
                  <a:pt x="949" y="16463"/>
                  <a:pt x="2603" y="16463"/>
                </a:cubicBezTo>
                <a:cubicBezTo>
                  <a:pt x="3806" y="16463"/>
                  <a:pt x="4436" y="16476"/>
                  <a:pt x="4468" y="16501"/>
                </a:cubicBezTo>
                <a:cubicBezTo>
                  <a:pt x="4507" y="16531"/>
                  <a:pt x="4518" y="16579"/>
                  <a:pt x="4518" y="16722"/>
                </a:cubicBezTo>
                <a:cubicBezTo>
                  <a:pt x="4518" y="16879"/>
                  <a:pt x="4527" y="16910"/>
                  <a:pt x="4576" y="16937"/>
                </a:cubicBezTo>
                <a:cubicBezTo>
                  <a:pt x="4608" y="16954"/>
                  <a:pt x="4646" y="16954"/>
                  <a:pt x="4661" y="16936"/>
                </a:cubicBezTo>
                <a:cubicBezTo>
                  <a:pt x="4676" y="16919"/>
                  <a:pt x="4838" y="16861"/>
                  <a:pt x="5021" y="16807"/>
                </a:cubicBezTo>
                <a:cubicBezTo>
                  <a:pt x="5203" y="16753"/>
                  <a:pt x="5367" y="16693"/>
                  <a:pt x="5384" y="16673"/>
                </a:cubicBezTo>
                <a:cubicBezTo>
                  <a:pt x="5402" y="16654"/>
                  <a:pt x="5417" y="16566"/>
                  <a:pt x="5417" y="16479"/>
                </a:cubicBezTo>
                <a:cubicBezTo>
                  <a:pt x="5417" y="16392"/>
                  <a:pt x="5428" y="16310"/>
                  <a:pt x="5443" y="16298"/>
                </a:cubicBezTo>
                <a:cubicBezTo>
                  <a:pt x="5457" y="16285"/>
                  <a:pt x="5463" y="16261"/>
                  <a:pt x="5456" y="16244"/>
                </a:cubicBezTo>
                <a:cubicBezTo>
                  <a:pt x="5448" y="16228"/>
                  <a:pt x="5461" y="16204"/>
                  <a:pt x="5483" y="16192"/>
                </a:cubicBezTo>
                <a:cubicBezTo>
                  <a:pt x="5505" y="16180"/>
                  <a:pt x="6330" y="16170"/>
                  <a:pt x="7316" y="16170"/>
                </a:cubicBezTo>
                <a:cubicBezTo>
                  <a:pt x="8912" y="16170"/>
                  <a:pt x="9114" y="16176"/>
                  <a:pt x="9150" y="16227"/>
                </a:cubicBezTo>
                <a:cubicBezTo>
                  <a:pt x="9177" y="16267"/>
                  <a:pt x="9190" y="16353"/>
                  <a:pt x="9190" y="16500"/>
                </a:cubicBezTo>
                <a:cubicBezTo>
                  <a:pt x="9190" y="16619"/>
                  <a:pt x="9199" y="16724"/>
                  <a:pt x="9211" y="16734"/>
                </a:cubicBezTo>
                <a:cubicBezTo>
                  <a:pt x="9222" y="16744"/>
                  <a:pt x="9502" y="16763"/>
                  <a:pt x="9834" y="16778"/>
                </a:cubicBezTo>
                <a:cubicBezTo>
                  <a:pt x="10420" y="16803"/>
                  <a:pt x="10438" y="16802"/>
                  <a:pt x="10545" y="16724"/>
                </a:cubicBezTo>
                <a:cubicBezTo>
                  <a:pt x="10606" y="16680"/>
                  <a:pt x="10666" y="16653"/>
                  <a:pt x="10678" y="16664"/>
                </a:cubicBezTo>
                <a:cubicBezTo>
                  <a:pt x="10691" y="16675"/>
                  <a:pt x="10709" y="16667"/>
                  <a:pt x="10718" y="16646"/>
                </a:cubicBezTo>
                <a:cubicBezTo>
                  <a:pt x="10743" y="16589"/>
                  <a:pt x="10935" y="16458"/>
                  <a:pt x="10961" y="16481"/>
                </a:cubicBezTo>
                <a:cubicBezTo>
                  <a:pt x="10973" y="16492"/>
                  <a:pt x="10991" y="16484"/>
                  <a:pt x="11000" y="16463"/>
                </a:cubicBezTo>
                <a:cubicBezTo>
                  <a:pt x="11009" y="16442"/>
                  <a:pt x="11062" y="16392"/>
                  <a:pt x="11118" y="16351"/>
                </a:cubicBezTo>
                <a:cubicBezTo>
                  <a:pt x="11243" y="16260"/>
                  <a:pt x="11227" y="16206"/>
                  <a:pt x="11076" y="16206"/>
                </a:cubicBezTo>
                <a:cubicBezTo>
                  <a:pt x="10991" y="16206"/>
                  <a:pt x="10957" y="16189"/>
                  <a:pt x="10937" y="16136"/>
                </a:cubicBezTo>
                <a:cubicBezTo>
                  <a:pt x="10922" y="16096"/>
                  <a:pt x="10910" y="15830"/>
                  <a:pt x="10910" y="15536"/>
                </a:cubicBezTo>
                <a:cubicBezTo>
                  <a:pt x="10910" y="14911"/>
                  <a:pt x="10915" y="14897"/>
                  <a:pt x="11154" y="14879"/>
                </a:cubicBezTo>
                <a:cubicBezTo>
                  <a:pt x="11239" y="14873"/>
                  <a:pt x="11308" y="14853"/>
                  <a:pt x="11308" y="14834"/>
                </a:cubicBezTo>
                <a:cubicBezTo>
                  <a:pt x="11308" y="14815"/>
                  <a:pt x="10886" y="14506"/>
                  <a:pt x="10371" y="14147"/>
                </a:cubicBezTo>
                <a:lnTo>
                  <a:pt x="9434" y="13495"/>
                </a:lnTo>
                <a:lnTo>
                  <a:pt x="8325" y="13494"/>
                </a:lnTo>
                <a:cubicBezTo>
                  <a:pt x="7255" y="13493"/>
                  <a:pt x="7214" y="13491"/>
                  <a:pt x="7189" y="13422"/>
                </a:cubicBezTo>
                <a:cubicBezTo>
                  <a:pt x="7174" y="13383"/>
                  <a:pt x="7162" y="13163"/>
                  <a:pt x="7162" y="12933"/>
                </a:cubicBezTo>
                <a:cubicBezTo>
                  <a:pt x="7162" y="12574"/>
                  <a:pt x="7169" y="12506"/>
                  <a:pt x="7209" y="12454"/>
                </a:cubicBezTo>
                <a:cubicBezTo>
                  <a:pt x="7251" y="12399"/>
                  <a:pt x="7366" y="12393"/>
                  <a:pt x="8326" y="12393"/>
                </a:cubicBezTo>
                <a:cubicBezTo>
                  <a:pt x="9325" y="12393"/>
                  <a:pt x="9399" y="12389"/>
                  <a:pt x="9442" y="12327"/>
                </a:cubicBezTo>
                <a:cubicBezTo>
                  <a:pt x="9501" y="12243"/>
                  <a:pt x="9796" y="11986"/>
                  <a:pt x="9844" y="11975"/>
                </a:cubicBezTo>
                <a:cubicBezTo>
                  <a:pt x="9864" y="11971"/>
                  <a:pt x="9910" y="11923"/>
                  <a:pt x="9945" y="11869"/>
                </a:cubicBezTo>
                <a:cubicBezTo>
                  <a:pt x="9980" y="11814"/>
                  <a:pt x="10022" y="11770"/>
                  <a:pt x="10039" y="11770"/>
                </a:cubicBezTo>
                <a:cubicBezTo>
                  <a:pt x="10055" y="11770"/>
                  <a:pt x="10237" y="11628"/>
                  <a:pt x="10444" y="11454"/>
                </a:cubicBezTo>
                <a:cubicBezTo>
                  <a:pt x="10651" y="11280"/>
                  <a:pt x="10833" y="11135"/>
                  <a:pt x="10849" y="11131"/>
                </a:cubicBezTo>
                <a:cubicBezTo>
                  <a:pt x="10864" y="11128"/>
                  <a:pt x="10897" y="11097"/>
                  <a:pt x="10921" y="11063"/>
                </a:cubicBezTo>
                <a:cubicBezTo>
                  <a:pt x="10945" y="11028"/>
                  <a:pt x="10976" y="10998"/>
                  <a:pt x="10989" y="10995"/>
                </a:cubicBezTo>
                <a:cubicBezTo>
                  <a:pt x="11002" y="10993"/>
                  <a:pt x="11025" y="10989"/>
                  <a:pt x="11039" y="10986"/>
                </a:cubicBezTo>
                <a:cubicBezTo>
                  <a:pt x="11054" y="10984"/>
                  <a:pt x="11074" y="10964"/>
                  <a:pt x="11084" y="10942"/>
                </a:cubicBezTo>
                <a:cubicBezTo>
                  <a:pt x="11094" y="10920"/>
                  <a:pt x="11199" y="10821"/>
                  <a:pt x="11317" y="10722"/>
                </a:cubicBezTo>
                <a:cubicBezTo>
                  <a:pt x="11435" y="10623"/>
                  <a:pt x="11534" y="10525"/>
                  <a:pt x="11536" y="10505"/>
                </a:cubicBezTo>
                <a:cubicBezTo>
                  <a:pt x="11538" y="10482"/>
                  <a:pt x="11350" y="10464"/>
                  <a:pt x="11028" y="10458"/>
                </a:cubicBezTo>
                <a:cubicBezTo>
                  <a:pt x="10464" y="10447"/>
                  <a:pt x="10397" y="10462"/>
                  <a:pt x="9485" y="10803"/>
                </a:cubicBezTo>
                <a:cubicBezTo>
                  <a:pt x="9288" y="10877"/>
                  <a:pt x="9103" y="10941"/>
                  <a:pt x="9075" y="10946"/>
                </a:cubicBezTo>
                <a:cubicBezTo>
                  <a:pt x="9046" y="10950"/>
                  <a:pt x="8979" y="10981"/>
                  <a:pt x="8926" y="11015"/>
                </a:cubicBezTo>
                <a:cubicBezTo>
                  <a:pt x="8872" y="11048"/>
                  <a:pt x="8815" y="11073"/>
                  <a:pt x="8798" y="11069"/>
                </a:cubicBezTo>
                <a:cubicBezTo>
                  <a:pt x="8781" y="11065"/>
                  <a:pt x="8722" y="11090"/>
                  <a:pt x="8667" y="11125"/>
                </a:cubicBezTo>
                <a:cubicBezTo>
                  <a:pt x="8613" y="11159"/>
                  <a:pt x="8554" y="11180"/>
                  <a:pt x="8536" y="11170"/>
                </a:cubicBezTo>
                <a:cubicBezTo>
                  <a:pt x="8518" y="11160"/>
                  <a:pt x="8493" y="11166"/>
                  <a:pt x="8481" y="11184"/>
                </a:cubicBezTo>
                <a:cubicBezTo>
                  <a:pt x="8469" y="11201"/>
                  <a:pt x="8291" y="11289"/>
                  <a:pt x="8086" y="11380"/>
                </a:cubicBezTo>
                <a:cubicBezTo>
                  <a:pt x="7674" y="11563"/>
                  <a:pt x="6840" y="12004"/>
                  <a:pt x="6786" y="12068"/>
                </a:cubicBezTo>
                <a:cubicBezTo>
                  <a:pt x="6767" y="12090"/>
                  <a:pt x="6751" y="12099"/>
                  <a:pt x="6751" y="12087"/>
                </a:cubicBezTo>
                <a:cubicBezTo>
                  <a:pt x="6751" y="12074"/>
                  <a:pt x="6693" y="12097"/>
                  <a:pt x="6621" y="12138"/>
                </a:cubicBezTo>
                <a:cubicBezTo>
                  <a:pt x="6550" y="12178"/>
                  <a:pt x="6481" y="12202"/>
                  <a:pt x="6469" y="12191"/>
                </a:cubicBezTo>
                <a:cubicBezTo>
                  <a:pt x="6457" y="12181"/>
                  <a:pt x="6440" y="12189"/>
                  <a:pt x="6431" y="12210"/>
                </a:cubicBezTo>
                <a:cubicBezTo>
                  <a:pt x="6422" y="12231"/>
                  <a:pt x="6373" y="12272"/>
                  <a:pt x="6322" y="12303"/>
                </a:cubicBezTo>
                <a:cubicBezTo>
                  <a:pt x="6202" y="12374"/>
                  <a:pt x="6236" y="12422"/>
                  <a:pt x="6418" y="12437"/>
                </a:cubicBezTo>
                <a:lnTo>
                  <a:pt x="6559" y="12448"/>
                </a:lnTo>
                <a:lnTo>
                  <a:pt x="6572" y="12942"/>
                </a:lnTo>
                <a:lnTo>
                  <a:pt x="6585" y="13436"/>
                </a:lnTo>
                <a:lnTo>
                  <a:pt x="7894" y="13897"/>
                </a:lnTo>
                <a:cubicBezTo>
                  <a:pt x="8614" y="14151"/>
                  <a:pt x="9226" y="14372"/>
                  <a:pt x="9254" y="14390"/>
                </a:cubicBezTo>
                <a:cubicBezTo>
                  <a:pt x="9283" y="14407"/>
                  <a:pt x="9319" y="14418"/>
                  <a:pt x="9336" y="14415"/>
                </a:cubicBezTo>
                <a:cubicBezTo>
                  <a:pt x="9352" y="14411"/>
                  <a:pt x="9373" y="14424"/>
                  <a:pt x="9382" y="14444"/>
                </a:cubicBezTo>
                <a:cubicBezTo>
                  <a:pt x="9390" y="14464"/>
                  <a:pt x="9413" y="14471"/>
                  <a:pt x="9432" y="14461"/>
                </a:cubicBezTo>
                <a:cubicBezTo>
                  <a:pt x="9452" y="14450"/>
                  <a:pt x="9475" y="14458"/>
                  <a:pt x="9484" y="14479"/>
                </a:cubicBezTo>
                <a:cubicBezTo>
                  <a:pt x="9493" y="14500"/>
                  <a:pt x="9516" y="14508"/>
                  <a:pt x="9535" y="14497"/>
                </a:cubicBezTo>
                <a:cubicBezTo>
                  <a:pt x="9554" y="14487"/>
                  <a:pt x="9577" y="14495"/>
                  <a:pt x="9586" y="14516"/>
                </a:cubicBezTo>
                <a:cubicBezTo>
                  <a:pt x="9595" y="14536"/>
                  <a:pt x="9617" y="14546"/>
                  <a:pt x="9634" y="14537"/>
                </a:cubicBezTo>
                <a:cubicBezTo>
                  <a:pt x="9651" y="14527"/>
                  <a:pt x="9895" y="14601"/>
                  <a:pt x="10176" y="14700"/>
                </a:cubicBezTo>
                <a:cubicBezTo>
                  <a:pt x="10457" y="14799"/>
                  <a:pt x="10701" y="14872"/>
                  <a:pt x="10717" y="14863"/>
                </a:cubicBezTo>
                <a:cubicBezTo>
                  <a:pt x="10751" y="14845"/>
                  <a:pt x="10824" y="14949"/>
                  <a:pt x="10801" y="14982"/>
                </a:cubicBezTo>
                <a:cubicBezTo>
                  <a:pt x="10783" y="15007"/>
                  <a:pt x="9855" y="14672"/>
                  <a:pt x="9817" y="14627"/>
                </a:cubicBezTo>
                <a:cubicBezTo>
                  <a:pt x="9801" y="14609"/>
                  <a:pt x="9782" y="14603"/>
                  <a:pt x="9774" y="14614"/>
                </a:cubicBezTo>
                <a:cubicBezTo>
                  <a:pt x="9756" y="14641"/>
                  <a:pt x="7985" y="14017"/>
                  <a:pt x="7945" y="13970"/>
                </a:cubicBezTo>
                <a:cubicBezTo>
                  <a:pt x="7928" y="13950"/>
                  <a:pt x="7909" y="13942"/>
                  <a:pt x="7901" y="13953"/>
                </a:cubicBezTo>
                <a:cubicBezTo>
                  <a:pt x="7894" y="13963"/>
                  <a:pt x="7579" y="13864"/>
                  <a:pt x="7201" y="13733"/>
                </a:cubicBezTo>
                <a:lnTo>
                  <a:pt x="6514" y="13493"/>
                </a:lnTo>
                <a:lnTo>
                  <a:pt x="5171" y="13493"/>
                </a:lnTo>
                <a:cubicBezTo>
                  <a:pt x="3985" y="13493"/>
                  <a:pt x="3824" y="13486"/>
                  <a:pt x="3788" y="13436"/>
                </a:cubicBezTo>
                <a:cubicBezTo>
                  <a:pt x="3756" y="13390"/>
                  <a:pt x="3748" y="13289"/>
                  <a:pt x="3748" y="12943"/>
                </a:cubicBezTo>
                <a:cubicBezTo>
                  <a:pt x="3748" y="12534"/>
                  <a:pt x="3752" y="12504"/>
                  <a:pt x="3805" y="12450"/>
                </a:cubicBezTo>
                <a:cubicBezTo>
                  <a:pt x="3855" y="12401"/>
                  <a:pt x="4008" y="12393"/>
                  <a:pt x="4961" y="12393"/>
                </a:cubicBezTo>
                <a:cubicBezTo>
                  <a:pt x="5913" y="12393"/>
                  <a:pt x="6068" y="12386"/>
                  <a:pt x="6121" y="12336"/>
                </a:cubicBezTo>
                <a:cubicBezTo>
                  <a:pt x="6155" y="12305"/>
                  <a:pt x="6212" y="12274"/>
                  <a:pt x="6247" y="12269"/>
                </a:cubicBezTo>
                <a:cubicBezTo>
                  <a:pt x="6283" y="12264"/>
                  <a:pt x="6327" y="12242"/>
                  <a:pt x="6346" y="12222"/>
                </a:cubicBezTo>
                <a:cubicBezTo>
                  <a:pt x="6364" y="12201"/>
                  <a:pt x="6431" y="12156"/>
                  <a:pt x="6495" y="12121"/>
                </a:cubicBezTo>
                <a:cubicBezTo>
                  <a:pt x="6558" y="12086"/>
                  <a:pt x="6645" y="12036"/>
                  <a:pt x="6687" y="12009"/>
                </a:cubicBezTo>
                <a:cubicBezTo>
                  <a:pt x="7139" y="11729"/>
                  <a:pt x="9173" y="10792"/>
                  <a:pt x="9393" y="10761"/>
                </a:cubicBezTo>
                <a:cubicBezTo>
                  <a:pt x="9430" y="10756"/>
                  <a:pt x="9494" y="10733"/>
                  <a:pt x="9535" y="10709"/>
                </a:cubicBezTo>
                <a:cubicBezTo>
                  <a:pt x="9576" y="10686"/>
                  <a:pt x="9625" y="10675"/>
                  <a:pt x="9643" y="10685"/>
                </a:cubicBezTo>
                <a:cubicBezTo>
                  <a:pt x="9661" y="10695"/>
                  <a:pt x="9684" y="10686"/>
                  <a:pt x="9693" y="10666"/>
                </a:cubicBezTo>
                <a:cubicBezTo>
                  <a:pt x="9702" y="10645"/>
                  <a:pt x="9725" y="10637"/>
                  <a:pt x="9744" y="10647"/>
                </a:cubicBezTo>
                <a:cubicBezTo>
                  <a:pt x="9763" y="10658"/>
                  <a:pt x="9786" y="10650"/>
                  <a:pt x="9795" y="10629"/>
                </a:cubicBezTo>
                <a:cubicBezTo>
                  <a:pt x="9804" y="10608"/>
                  <a:pt x="9827" y="10600"/>
                  <a:pt x="9847" y="10611"/>
                </a:cubicBezTo>
                <a:cubicBezTo>
                  <a:pt x="9866" y="10621"/>
                  <a:pt x="9888" y="10615"/>
                  <a:pt x="9896" y="10597"/>
                </a:cubicBezTo>
                <a:cubicBezTo>
                  <a:pt x="9904" y="10579"/>
                  <a:pt x="9976" y="10544"/>
                  <a:pt x="10057" y="10520"/>
                </a:cubicBezTo>
                <a:cubicBezTo>
                  <a:pt x="10138" y="10495"/>
                  <a:pt x="10217" y="10461"/>
                  <a:pt x="10233" y="10444"/>
                </a:cubicBezTo>
                <a:cubicBezTo>
                  <a:pt x="10261" y="10412"/>
                  <a:pt x="10251" y="10242"/>
                  <a:pt x="10219" y="10213"/>
                </a:cubicBezTo>
                <a:cubicBezTo>
                  <a:pt x="10210" y="10205"/>
                  <a:pt x="10116" y="10213"/>
                  <a:pt x="10010" y="10232"/>
                </a:cubicBezTo>
                <a:cubicBezTo>
                  <a:pt x="9373" y="10345"/>
                  <a:pt x="8707" y="10452"/>
                  <a:pt x="8687" y="10446"/>
                </a:cubicBezTo>
                <a:cubicBezTo>
                  <a:pt x="8674" y="10442"/>
                  <a:pt x="8647" y="10448"/>
                  <a:pt x="8625" y="10461"/>
                </a:cubicBezTo>
                <a:cubicBezTo>
                  <a:pt x="8572" y="10492"/>
                  <a:pt x="8019" y="10603"/>
                  <a:pt x="7964" y="10593"/>
                </a:cubicBezTo>
                <a:cubicBezTo>
                  <a:pt x="7940" y="10589"/>
                  <a:pt x="7902" y="10595"/>
                  <a:pt x="7881" y="10607"/>
                </a:cubicBezTo>
                <a:cubicBezTo>
                  <a:pt x="7860" y="10619"/>
                  <a:pt x="7721" y="10655"/>
                  <a:pt x="7573" y="10687"/>
                </a:cubicBezTo>
                <a:cubicBezTo>
                  <a:pt x="7425" y="10719"/>
                  <a:pt x="7086" y="10812"/>
                  <a:pt x="6820" y="10894"/>
                </a:cubicBezTo>
                <a:cubicBezTo>
                  <a:pt x="6554" y="10975"/>
                  <a:pt x="6330" y="11033"/>
                  <a:pt x="6322" y="11021"/>
                </a:cubicBezTo>
                <a:cubicBezTo>
                  <a:pt x="6314" y="11010"/>
                  <a:pt x="6294" y="11015"/>
                  <a:pt x="6279" y="11032"/>
                </a:cubicBezTo>
                <a:cubicBezTo>
                  <a:pt x="6251" y="11064"/>
                  <a:pt x="6174" y="11090"/>
                  <a:pt x="5344" y="11346"/>
                </a:cubicBezTo>
                <a:cubicBezTo>
                  <a:pt x="5113" y="11417"/>
                  <a:pt x="4705" y="11567"/>
                  <a:pt x="4436" y="11679"/>
                </a:cubicBezTo>
                <a:cubicBezTo>
                  <a:pt x="4167" y="11792"/>
                  <a:pt x="3941" y="11874"/>
                  <a:pt x="3933" y="11863"/>
                </a:cubicBezTo>
                <a:cubicBezTo>
                  <a:pt x="3925" y="11852"/>
                  <a:pt x="3901" y="11867"/>
                  <a:pt x="3878" y="11895"/>
                </a:cubicBezTo>
                <a:cubicBezTo>
                  <a:pt x="3856" y="11924"/>
                  <a:pt x="3826" y="11949"/>
                  <a:pt x="3812" y="11951"/>
                </a:cubicBezTo>
                <a:cubicBezTo>
                  <a:pt x="3798" y="11952"/>
                  <a:pt x="3672" y="12004"/>
                  <a:pt x="3531" y="12066"/>
                </a:cubicBezTo>
                <a:cubicBezTo>
                  <a:pt x="3391" y="12129"/>
                  <a:pt x="3247" y="12184"/>
                  <a:pt x="3212" y="12189"/>
                </a:cubicBezTo>
                <a:cubicBezTo>
                  <a:pt x="3136" y="12201"/>
                  <a:pt x="3085" y="12347"/>
                  <a:pt x="3145" y="12380"/>
                </a:cubicBezTo>
                <a:cubicBezTo>
                  <a:pt x="3176" y="12397"/>
                  <a:pt x="3183" y="12496"/>
                  <a:pt x="3183" y="12923"/>
                </a:cubicBezTo>
                <a:cubicBezTo>
                  <a:pt x="3183" y="13210"/>
                  <a:pt x="3175" y="13457"/>
                  <a:pt x="3164" y="13472"/>
                </a:cubicBezTo>
                <a:cubicBezTo>
                  <a:pt x="3153" y="13487"/>
                  <a:pt x="3145" y="13518"/>
                  <a:pt x="3145" y="13542"/>
                </a:cubicBezTo>
                <a:cubicBezTo>
                  <a:pt x="3145" y="13603"/>
                  <a:pt x="86" y="13622"/>
                  <a:pt x="35" y="13562"/>
                </a:cubicBezTo>
                <a:cubicBezTo>
                  <a:pt x="8" y="13530"/>
                  <a:pt x="0" y="13385"/>
                  <a:pt x="0" y="12940"/>
                </a:cubicBezTo>
                <a:cubicBezTo>
                  <a:pt x="0" y="12403"/>
                  <a:pt x="4" y="12356"/>
                  <a:pt x="50" y="12321"/>
                </a:cubicBezTo>
                <a:cubicBezTo>
                  <a:pt x="82" y="12296"/>
                  <a:pt x="590" y="12283"/>
                  <a:pt x="1521" y="12283"/>
                </a:cubicBezTo>
                <a:cubicBezTo>
                  <a:pt x="2302" y="12283"/>
                  <a:pt x="2953" y="12269"/>
                  <a:pt x="2966" y="12252"/>
                </a:cubicBezTo>
                <a:cubicBezTo>
                  <a:pt x="2996" y="12215"/>
                  <a:pt x="3506" y="11985"/>
                  <a:pt x="3535" y="11996"/>
                </a:cubicBezTo>
                <a:cubicBezTo>
                  <a:pt x="3546" y="12001"/>
                  <a:pt x="3607" y="11968"/>
                  <a:pt x="3669" y="11924"/>
                </a:cubicBezTo>
                <a:cubicBezTo>
                  <a:pt x="3732" y="11879"/>
                  <a:pt x="3797" y="11843"/>
                  <a:pt x="3815" y="11843"/>
                </a:cubicBezTo>
                <a:cubicBezTo>
                  <a:pt x="3832" y="11843"/>
                  <a:pt x="3985" y="11785"/>
                  <a:pt x="4156" y="11715"/>
                </a:cubicBezTo>
                <a:cubicBezTo>
                  <a:pt x="4326" y="11644"/>
                  <a:pt x="4475" y="11590"/>
                  <a:pt x="4485" y="11594"/>
                </a:cubicBezTo>
                <a:cubicBezTo>
                  <a:pt x="4496" y="11598"/>
                  <a:pt x="4528" y="11584"/>
                  <a:pt x="4557" y="11562"/>
                </a:cubicBezTo>
                <a:cubicBezTo>
                  <a:pt x="4637" y="11499"/>
                  <a:pt x="5111" y="11323"/>
                  <a:pt x="5147" y="11343"/>
                </a:cubicBezTo>
                <a:cubicBezTo>
                  <a:pt x="5165" y="11353"/>
                  <a:pt x="5189" y="11347"/>
                  <a:pt x="5202" y="11330"/>
                </a:cubicBezTo>
                <a:cubicBezTo>
                  <a:pt x="5231" y="11289"/>
                  <a:pt x="5982" y="11062"/>
                  <a:pt x="6001" y="11089"/>
                </a:cubicBezTo>
                <a:cubicBezTo>
                  <a:pt x="6009" y="11100"/>
                  <a:pt x="6028" y="11093"/>
                  <a:pt x="6045" y="11074"/>
                </a:cubicBezTo>
                <a:cubicBezTo>
                  <a:pt x="6083" y="11029"/>
                  <a:pt x="6828" y="10804"/>
                  <a:pt x="6848" y="10831"/>
                </a:cubicBezTo>
                <a:cubicBezTo>
                  <a:pt x="6856" y="10843"/>
                  <a:pt x="6875" y="10838"/>
                  <a:pt x="6890" y="10821"/>
                </a:cubicBezTo>
                <a:cubicBezTo>
                  <a:pt x="6932" y="10774"/>
                  <a:pt x="7182" y="10697"/>
                  <a:pt x="7211" y="10722"/>
                </a:cubicBezTo>
                <a:cubicBezTo>
                  <a:pt x="7224" y="10734"/>
                  <a:pt x="7242" y="10729"/>
                  <a:pt x="7250" y="10710"/>
                </a:cubicBezTo>
                <a:cubicBezTo>
                  <a:pt x="7269" y="10667"/>
                  <a:pt x="7614" y="10583"/>
                  <a:pt x="7663" y="10610"/>
                </a:cubicBezTo>
                <a:cubicBezTo>
                  <a:pt x="7683" y="10621"/>
                  <a:pt x="7707" y="10613"/>
                  <a:pt x="7716" y="10593"/>
                </a:cubicBezTo>
                <a:cubicBezTo>
                  <a:pt x="7725" y="10572"/>
                  <a:pt x="7763" y="10560"/>
                  <a:pt x="7800" y="10565"/>
                </a:cubicBezTo>
                <a:cubicBezTo>
                  <a:pt x="7838" y="10571"/>
                  <a:pt x="7883" y="10563"/>
                  <a:pt x="7901" y="10547"/>
                </a:cubicBezTo>
                <a:cubicBezTo>
                  <a:pt x="7919" y="10531"/>
                  <a:pt x="7959" y="10522"/>
                  <a:pt x="7991" y="10526"/>
                </a:cubicBezTo>
                <a:cubicBezTo>
                  <a:pt x="8022" y="10530"/>
                  <a:pt x="8065" y="10525"/>
                  <a:pt x="8086" y="10513"/>
                </a:cubicBezTo>
                <a:cubicBezTo>
                  <a:pt x="8154" y="10476"/>
                  <a:pt x="8576" y="10404"/>
                  <a:pt x="8592" y="10427"/>
                </a:cubicBezTo>
                <a:cubicBezTo>
                  <a:pt x="8601" y="10439"/>
                  <a:pt x="8621" y="10435"/>
                  <a:pt x="8636" y="10417"/>
                </a:cubicBezTo>
                <a:cubicBezTo>
                  <a:pt x="8667" y="10381"/>
                  <a:pt x="8842" y="10346"/>
                  <a:pt x="9647" y="10213"/>
                </a:cubicBezTo>
                <a:cubicBezTo>
                  <a:pt x="9947" y="10164"/>
                  <a:pt x="10204" y="10113"/>
                  <a:pt x="10218" y="10101"/>
                </a:cubicBezTo>
                <a:cubicBezTo>
                  <a:pt x="10232" y="10089"/>
                  <a:pt x="10243" y="9894"/>
                  <a:pt x="10243" y="9664"/>
                </a:cubicBezTo>
                <a:cubicBezTo>
                  <a:pt x="10243" y="9374"/>
                  <a:pt x="10253" y="9237"/>
                  <a:pt x="10275" y="9210"/>
                </a:cubicBezTo>
                <a:cubicBezTo>
                  <a:pt x="10295" y="9187"/>
                  <a:pt x="10516" y="9170"/>
                  <a:pt x="10859" y="9168"/>
                </a:cubicBezTo>
                <a:cubicBezTo>
                  <a:pt x="11162" y="9166"/>
                  <a:pt x="11419" y="9151"/>
                  <a:pt x="11431" y="9134"/>
                </a:cubicBezTo>
                <a:cubicBezTo>
                  <a:pt x="11454" y="9101"/>
                  <a:pt x="11393" y="9037"/>
                  <a:pt x="11218" y="8910"/>
                </a:cubicBezTo>
                <a:cubicBezTo>
                  <a:pt x="11155" y="8864"/>
                  <a:pt x="11095" y="8809"/>
                  <a:pt x="11086" y="8788"/>
                </a:cubicBezTo>
                <a:cubicBezTo>
                  <a:pt x="11076" y="8767"/>
                  <a:pt x="11049" y="8746"/>
                  <a:pt x="11024" y="8741"/>
                </a:cubicBezTo>
                <a:cubicBezTo>
                  <a:pt x="11000" y="8736"/>
                  <a:pt x="10968" y="8714"/>
                  <a:pt x="10953" y="8692"/>
                </a:cubicBezTo>
                <a:cubicBezTo>
                  <a:pt x="10896" y="8611"/>
                  <a:pt x="10992" y="8656"/>
                  <a:pt x="11200" y="8808"/>
                </a:cubicBezTo>
                <a:cubicBezTo>
                  <a:pt x="11316" y="8894"/>
                  <a:pt x="11424" y="8964"/>
                  <a:pt x="11441" y="8965"/>
                </a:cubicBezTo>
                <a:cubicBezTo>
                  <a:pt x="11482" y="8966"/>
                  <a:pt x="11503" y="9001"/>
                  <a:pt x="11511" y="9081"/>
                </a:cubicBezTo>
                <a:cubicBezTo>
                  <a:pt x="11518" y="9145"/>
                  <a:pt x="11563" y="9148"/>
                  <a:pt x="12389" y="9148"/>
                </a:cubicBezTo>
                <a:cubicBezTo>
                  <a:pt x="13059" y="9148"/>
                  <a:pt x="13258" y="9138"/>
                  <a:pt x="13253" y="9104"/>
                </a:cubicBezTo>
                <a:cubicBezTo>
                  <a:pt x="13247" y="9060"/>
                  <a:pt x="13461" y="8871"/>
                  <a:pt x="14214" y="8255"/>
                </a:cubicBezTo>
                <a:cubicBezTo>
                  <a:pt x="14557" y="7975"/>
                  <a:pt x="14655" y="7911"/>
                  <a:pt x="14621" y="7990"/>
                </a:cubicBezTo>
                <a:close/>
                <a:moveTo>
                  <a:pt x="15535" y="9943"/>
                </a:moveTo>
                <a:cubicBezTo>
                  <a:pt x="15977" y="9977"/>
                  <a:pt x="16458" y="10005"/>
                  <a:pt x="16603" y="10006"/>
                </a:cubicBezTo>
                <a:cubicBezTo>
                  <a:pt x="16748" y="10006"/>
                  <a:pt x="16877" y="10016"/>
                  <a:pt x="16890" y="10027"/>
                </a:cubicBezTo>
                <a:cubicBezTo>
                  <a:pt x="16903" y="10038"/>
                  <a:pt x="17067" y="10053"/>
                  <a:pt x="17255" y="10060"/>
                </a:cubicBezTo>
                <a:cubicBezTo>
                  <a:pt x="17561" y="10070"/>
                  <a:pt x="18742" y="10271"/>
                  <a:pt x="18843" y="10329"/>
                </a:cubicBezTo>
                <a:cubicBezTo>
                  <a:pt x="18864" y="10341"/>
                  <a:pt x="18893" y="10347"/>
                  <a:pt x="18907" y="10342"/>
                </a:cubicBezTo>
                <a:cubicBezTo>
                  <a:pt x="18957" y="10325"/>
                  <a:pt x="19409" y="10423"/>
                  <a:pt x="19422" y="10455"/>
                </a:cubicBezTo>
                <a:cubicBezTo>
                  <a:pt x="19430" y="10473"/>
                  <a:pt x="19448" y="10478"/>
                  <a:pt x="19461" y="10466"/>
                </a:cubicBezTo>
                <a:cubicBezTo>
                  <a:pt x="19494" y="10437"/>
                  <a:pt x="20157" y="10558"/>
                  <a:pt x="20193" y="10600"/>
                </a:cubicBezTo>
                <a:cubicBezTo>
                  <a:pt x="20208" y="10618"/>
                  <a:pt x="20227" y="10623"/>
                  <a:pt x="20236" y="10611"/>
                </a:cubicBezTo>
                <a:cubicBezTo>
                  <a:pt x="20256" y="10582"/>
                  <a:pt x="20929" y="10706"/>
                  <a:pt x="20957" y="10744"/>
                </a:cubicBezTo>
                <a:cubicBezTo>
                  <a:pt x="20969" y="10760"/>
                  <a:pt x="20995" y="10766"/>
                  <a:pt x="21013" y="10756"/>
                </a:cubicBezTo>
                <a:cubicBezTo>
                  <a:pt x="21032" y="10745"/>
                  <a:pt x="21131" y="10755"/>
                  <a:pt x="21233" y="10778"/>
                </a:cubicBezTo>
                <a:cubicBezTo>
                  <a:pt x="21360" y="10806"/>
                  <a:pt x="21426" y="10807"/>
                  <a:pt x="21445" y="10781"/>
                </a:cubicBezTo>
                <a:cubicBezTo>
                  <a:pt x="21459" y="10760"/>
                  <a:pt x="21480" y="10743"/>
                  <a:pt x="21492" y="10743"/>
                </a:cubicBezTo>
                <a:cubicBezTo>
                  <a:pt x="21503" y="10743"/>
                  <a:pt x="21512" y="11749"/>
                  <a:pt x="21512" y="12978"/>
                </a:cubicBezTo>
                <a:cubicBezTo>
                  <a:pt x="21512" y="15067"/>
                  <a:pt x="21515" y="15215"/>
                  <a:pt x="21557" y="15251"/>
                </a:cubicBezTo>
                <a:cubicBezTo>
                  <a:pt x="21600" y="15288"/>
                  <a:pt x="21600" y="15292"/>
                  <a:pt x="21557" y="15328"/>
                </a:cubicBezTo>
                <a:cubicBezTo>
                  <a:pt x="21533" y="15349"/>
                  <a:pt x="21512" y="15399"/>
                  <a:pt x="21512" y="15438"/>
                </a:cubicBezTo>
                <a:cubicBezTo>
                  <a:pt x="21512" y="15518"/>
                  <a:pt x="21486" y="15530"/>
                  <a:pt x="21444" y="15471"/>
                </a:cubicBezTo>
                <a:cubicBezTo>
                  <a:pt x="21424" y="15443"/>
                  <a:pt x="21321" y="15496"/>
                  <a:pt x="21089" y="15653"/>
                </a:cubicBezTo>
                <a:cubicBezTo>
                  <a:pt x="20909" y="15775"/>
                  <a:pt x="20752" y="15867"/>
                  <a:pt x="20741" y="15857"/>
                </a:cubicBezTo>
                <a:cubicBezTo>
                  <a:pt x="20729" y="15847"/>
                  <a:pt x="20713" y="15856"/>
                  <a:pt x="20704" y="15877"/>
                </a:cubicBezTo>
                <a:cubicBezTo>
                  <a:pt x="20680" y="15931"/>
                  <a:pt x="20329" y="16179"/>
                  <a:pt x="20312" y="16154"/>
                </a:cubicBezTo>
                <a:cubicBezTo>
                  <a:pt x="20304" y="16142"/>
                  <a:pt x="20279" y="16156"/>
                  <a:pt x="20256" y="16185"/>
                </a:cubicBezTo>
                <a:cubicBezTo>
                  <a:pt x="20201" y="16257"/>
                  <a:pt x="18966" y="17091"/>
                  <a:pt x="18949" y="17068"/>
                </a:cubicBezTo>
                <a:cubicBezTo>
                  <a:pt x="18942" y="17058"/>
                  <a:pt x="18918" y="17073"/>
                  <a:pt x="18896" y="17102"/>
                </a:cubicBezTo>
                <a:cubicBezTo>
                  <a:pt x="18846" y="17167"/>
                  <a:pt x="17229" y="18266"/>
                  <a:pt x="17170" y="18275"/>
                </a:cubicBezTo>
                <a:cubicBezTo>
                  <a:pt x="17146" y="18279"/>
                  <a:pt x="17111" y="18301"/>
                  <a:pt x="17092" y="18324"/>
                </a:cubicBezTo>
                <a:cubicBezTo>
                  <a:pt x="17041" y="18384"/>
                  <a:pt x="15424" y="19477"/>
                  <a:pt x="15373" y="19485"/>
                </a:cubicBezTo>
                <a:cubicBezTo>
                  <a:pt x="15349" y="19489"/>
                  <a:pt x="15314" y="19511"/>
                  <a:pt x="15295" y="19534"/>
                </a:cubicBezTo>
                <a:cubicBezTo>
                  <a:pt x="15246" y="19592"/>
                  <a:pt x="13628" y="20686"/>
                  <a:pt x="13579" y="20695"/>
                </a:cubicBezTo>
                <a:cubicBezTo>
                  <a:pt x="13557" y="20699"/>
                  <a:pt x="13511" y="20730"/>
                  <a:pt x="13477" y="20764"/>
                </a:cubicBezTo>
                <a:cubicBezTo>
                  <a:pt x="13409" y="20832"/>
                  <a:pt x="13391" y="20838"/>
                  <a:pt x="13367" y="20803"/>
                </a:cubicBezTo>
                <a:cubicBezTo>
                  <a:pt x="13358" y="20791"/>
                  <a:pt x="13566" y="20634"/>
                  <a:pt x="13829" y="20455"/>
                </a:cubicBezTo>
                <a:cubicBezTo>
                  <a:pt x="14092" y="20276"/>
                  <a:pt x="14313" y="20138"/>
                  <a:pt x="14320" y="20148"/>
                </a:cubicBezTo>
                <a:cubicBezTo>
                  <a:pt x="14327" y="20158"/>
                  <a:pt x="14351" y="20143"/>
                  <a:pt x="14374" y="20114"/>
                </a:cubicBezTo>
                <a:cubicBezTo>
                  <a:pt x="14424" y="20049"/>
                  <a:pt x="16041" y="18950"/>
                  <a:pt x="16100" y="18941"/>
                </a:cubicBezTo>
                <a:cubicBezTo>
                  <a:pt x="16124" y="18937"/>
                  <a:pt x="16159" y="18915"/>
                  <a:pt x="16178" y="18892"/>
                </a:cubicBezTo>
                <a:cubicBezTo>
                  <a:pt x="16241" y="18818"/>
                  <a:pt x="17900" y="17711"/>
                  <a:pt x="17920" y="17730"/>
                </a:cubicBezTo>
                <a:cubicBezTo>
                  <a:pt x="17931" y="17740"/>
                  <a:pt x="17948" y="17730"/>
                  <a:pt x="17957" y="17709"/>
                </a:cubicBezTo>
                <a:cubicBezTo>
                  <a:pt x="17980" y="17655"/>
                  <a:pt x="18331" y="17407"/>
                  <a:pt x="18349" y="17432"/>
                </a:cubicBezTo>
                <a:cubicBezTo>
                  <a:pt x="18357" y="17444"/>
                  <a:pt x="18382" y="17430"/>
                  <a:pt x="18404" y="17401"/>
                </a:cubicBezTo>
                <a:cubicBezTo>
                  <a:pt x="18465" y="17323"/>
                  <a:pt x="19693" y="16498"/>
                  <a:pt x="19717" y="16519"/>
                </a:cubicBezTo>
                <a:cubicBezTo>
                  <a:pt x="19728" y="16529"/>
                  <a:pt x="19745" y="16520"/>
                  <a:pt x="19754" y="16499"/>
                </a:cubicBezTo>
                <a:cubicBezTo>
                  <a:pt x="19777" y="16445"/>
                  <a:pt x="20128" y="16197"/>
                  <a:pt x="20146" y="16222"/>
                </a:cubicBezTo>
                <a:cubicBezTo>
                  <a:pt x="20154" y="16234"/>
                  <a:pt x="20179" y="16219"/>
                  <a:pt x="20202" y="16190"/>
                </a:cubicBezTo>
                <a:cubicBezTo>
                  <a:pt x="20224" y="16161"/>
                  <a:pt x="20491" y="15970"/>
                  <a:pt x="20794" y="15766"/>
                </a:cubicBezTo>
                <a:cubicBezTo>
                  <a:pt x="21097" y="15562"/>
                  <a:pt x="21371" y="15371"/>
                  <a:pt x="21403" y="15342"/>
                </a:cubicBezTo>
                <a:lnTo>
                  <a:pt x="21461" y="15288"/>
                </a:lnTo>
                <a:lnTo>
                  <a:pt x="21461" y="13109"/>
                </a:lnTo>
                <a:cubicBezTo>
                  <a:pt x="21461" y="11911"/>
                  <a:pt x="21452" y="10923"/>
                  <a:pt x="21441" y="10913"/>
                </a:cubicBezTo>
                <a:cubicBezTo>
                  <a:pt x="21430" y="10904"/>
                  <a:pt x="21283" y="10869"/>
                  <a:pt x="21114" y="10835"/>
                </a:cubicBezTo>
                <a:cubicBezTo>
                  <a:pt x="20945" y="10802"/>
                  <a:pt x="20789" y="10766"/>
                  <a:pt x="20768" y="10756"/>
                </a:cubicBezTo>
                <a:cubicBezTo>
                  <a:pt x="20747" y="10746"/>
                  <a:pt x="20672" y="10732"/>
                  <a:pt x="20601" y="10726"/>
                </a:cubicBezTo>
                <a:cubicBezTo>
                  <a:pt x="20427" y="10710"/>
                  <a:pt x="19096" y="10452"/>
                  <a:pt x="19048" y="10424"/>
                </a:cubicBezTo>
                <a:cubicBezTo>
                  <a:pt x="19027" y="10412"/>
                  <a:pt x="18993" y="10406"/>
                  <a:pt x="18973" y="10410"/>
                </a:cubicBezTo>
                <a:cubicBezTo>
                  <a:pt x="18930" y="10421"/>
                  <a:pt x="18505" y="10338"/>
                  <a:pt x="18476" y="10314"/>
                </a:cubicBezTo>
                <a:cubicBezTo>
                  <a:pt x="18465" y="10305"/>
                  <a:pt x="18382" y="10291"/>
                  <a:pt x="18291" y="10282"/>
                </a:cubicBezTo>
                <a:cubicBezTo>
                  <a:pt x="18200" y="10274"/>
                  <a:pt x="18013" y="10244"/>
                  <a:pt x="17875" y="10215"/>
                </a:cubicBezTo>
                <a:cubicBezTo>
                  <a:pt x="17736" y="10186"/>
                  <a:pt x="17568" y="10162"/>
                  <a:pt x="17500" y="10161"/>
                </a:cubicBezTo>
                <a:cubicBezTo>
                  <a:pt x="17433" y="10160"/>
                  <a:pt x="17366" y="10149"/>
                  <a:pt x="17352" y="10137"/>
                </a:cubicBezTo>
                <a:cubicBezTo>
                  <a:pt x="17331" y="10118"/>
                  <a:pt x="17019" y="10097"/>
                  <a:pt x="16648" y="10090"/>
                </a:cubicBezTo>
                <a:cubicBezTo>
                  <a:pt x="16422" y="10085"/>
                  <a:pt x="14771" y="9966"/>
                  <a:pt x="14740" y="9952"/>
                </a:cubicBezTo>
                <a:cubicBezTo>
                  <a:pt x="14721" y="9944"/>
                  <a:pt x="14712" y="9925"/>
                  <a:pt x="14718" y="9909"/>
                </a:cubicBezTo>
                <a:cubicBezTo>
                  <a:pt x="14725" y="9894"/>
                  <a:pt x="15092" y="9909"/>
                  <a:pt x="15535" y="9943"/>
                </a:cubicBezTo>
                <a:close/>
                <a:moveTo>
                  <a:pt x="13848" y="18097"/>
                </a:moveTo>
                <a:cubicBezTo>
                  <a:pt x="13907" y="18182"/>
                  <a:pt x="13907" y="19217"/>
                  <a:pt x="13848" y="19302"/>
                </a:cubicBezTo>
                <a:cubicBezTo>
                  <a:pt x="13812" y="19353"/>
                  <a:pt x="13648" y="19360"/>
                  <a:pt x="12428" y="19360"/>
                </a:cubicBezTo>
                <a:cubicBezTo>
                  <a:pt x="11390" y="19360"/>
                  <a:pt x="11041" y="19349"/>
                  <a:pt x="11018" y="19316"/>
                </a:cubicBezTo>
                <a:cubicBezTo>
                  <a:pt x="10975" y="19254"/>
                  <a:pt x="10975" y="18145"/>
                  <a:pt x="11018" y="18084"/>
                </a:cubicBezTo>
                <a:cubicBezTo>
                  <a:pt x="11041" y="18051"/>
                  <a:pt x="11390" y="18040"/>
                  <a:pt x="12428" y="18040"/>
                </a:cubicBezTo>
                <a:cubicBezTo>
                  <a:pt x="13648" y="18040"/>
                  <a:pt x="13812" y="18046"/>
                  <a:pt x="13848" y="18097"/>
                </a:cubicBezTo>
                <a:close/>
                <a:moveTo>
                  <a:pt x="3611" y="18751"/>
                </a:moveTo>
                <a:cubicBezTo>
                  <a:pt x="3601" y="18788"/>
                  <a:pt x="3555" y="18801"/>
                  <a:pt x="3439" y="18797"/>
                </a:cubicBezTo>
                <a:cubicBezTo>
                  <a:pt x="3352" y="18794"/>
                  <a:pt x="3276" y="18804"/>
                  <a:pt x="3269" y="18819"/>
                </a:cubicBezTo>
                <a:cubicBezTo>
                  <a:pt x="3241" y="18883"/>
                  <a:pt x="3209" y="18838"/>
                  <a:pt x="3209" y="18736"/>
                </a:cubicBezTo>
                <a:cubicBezTo>
                  <a:pt x="3209" y="18638"/>
                  <a:pt x="3217" y="18626"/>
                  <a:pt x="3292" y="18623"/>
                </a:cubicBezTo>
                <a:cubicBezTo>
                  <a:pt x="3338" y="18620"/>
                  <a:pt x="3419" y="18615"/>
                  <a:pt x="3472" y="18610"/>
                </a:cubicBezTo>
                <a:cubicBezTo>
                  <a:pt x="3574" y="18601"/>
                  <a:pt x="3635" y="18662"/>
                  <a:pt x="3611" y="18751"/>
                </a:cubicBezTo>
                <a:close/>
                <a:moveTo>
                  <a:pt x="16974" y="17423"/>
                </a:moveTo>
                <a:cubicBezTo>
                  <a:pt x="17020" y="17432"/>
                  <a:pt x="17033" y="17458"/>
                  <a:pt x="17034" y="17545"/>
                </a:cubicBezTo>
                <a:cubicBezTo>
                  <a:pt x="17034" y="17641"/>
                  <a:pt x="17045" y="17657"/>
                  <a:pt x="17121" y="17673"/>
                </a:cubicBezTo>
                <a:cubicBezTo>
                  <a:pt x="17216" y="17693"/>
                  <a:pt x="17246" y="17750"/>
                  <a:pt x="17194" y="17810"/>
                </a:cubicBezTo>
                <a:cubicBezTo>
                  <a:pt x="17146" y="17865"/>
                  <a:pt x="17057" y="17898"/>
                  <a:pt x="17037" y="17868"/>
                </a:cubicBezTo>
                <a:cubicBezTo>
                  <a:pt x="17027" y="17854"/>
                  <a:pt x="16970" y="17841"/>
                  <a:pt x="16910" y="17839"/>
                </a:cubicBezTo>
                <a:cubicBezTo>
                  <a:pt x="16850" y="17838"/>
                  <a:pt x="16790" y="17826"/>
                  <a:pt x="16776" y="17814"/>
                </a:cubicBezTo>
                <a:cubicBezTo>
                  <a:pt x="16754" y="17796"/>
                  <a:pt x="16622" y="17801"/>
                  <a:pt x="16622" y="17820"/>
                </a:cubicBezTo>
                <a:cubicBezTo>
                  <a:pt x="16622" y="17844"/>
                  <a:pt x="16401" y="17843"/>
                  <a:pt x="16391" y="17820"/>
                </a:cubicBezTo>
                <a:cubicBezTo>
                  <a:pt x="16366" y="17763"/>
                  <a:pt x="16405" y="17688"/>
                  <a:pt x="16481" y="17647"/>
                </a:cubicBezTo>
                <a:cubicBezTo>
                  <a:pt x="16539" y="17616"/>
                  <a:pt x="16558" y="17583"/>
                  <a:pt x="16558" y="17511"/>
                </a:cubicBezTo>
                <a:cubicBezTo>
                  <a:pt x="16558" y="17419"/>
                  <a:pt x="16563" y="17415"/>
                  <a:pt x="16685" y="17426"/>
                </a:cubicBezTo>
                <a:cubicBezTo>
                  <a:pt x="16755" y="17432"/>
                  <a:pt x="16820" y="17449"/>
                  <a:pt x="16830" y="17463"/>
                </a:cubicBezTo>
                <a:cubicBezTo>
                  <a:pt x="16840" y="17477"/>
                  <a:pt x="16863" y="17471"/>
                  <a:pt x="16881" y="17450"/>
                </a:cubicBezTo>
                <a:cubicBezTo>
                  <a:pt x="16899" y="17428"/>
                  <a:pt x="16941" y="17416"/>
                  <a:pt x="16974" y="17423"/>
                </a:cubicBezTo>
                <a:close/>
                <a:moveTo>
                  <a:pt x="12450" y="17869"/>
                </a:moveTo>
                <a:cubicBezTo>
                  <a:pt x="12439" y="17886"/>
                  <a:pt x="12420" y="17875"/>
                  <a:pt x="12408" y="17844"/>
                </a:cubicBezTo>
                <a:cubicBezTo>
                  <a:pt x="12382" y="17777"/>
                  <a:pt x="12395" y="17380"/>
                  <a:pt x="12424" y="17380"/>
                </a:cubicBezTo>
                <a:cubicBezTo>
                  <a:pt x="12451" y="17380"/>
                  <a:pt x="12475" y="17830"/>
                  <a:pt x="12450" y="17869"/>
                </a:cubicBezTo>
                <a:close/>
                <a:moveTo>
                  <a:pt x="13141" y="17102"/>
                </a:moveTo>
                <a:cubicBezTo>
                  <a:pt x="13156" y="17116"/>
                  <a:pt x="13169" y="17151"/>
                  <a:pt x="13169" y="17180"/>
                </a:cubicBezTo>
                <a:cubicBezTo>
                  <a:pt x="13169" y="17223"/>
                  <a:pt x="13113" y="17233"/>
                  <a:pt x="12864" y="17233"/>
                </a:cubicBezTo>
                <a:cubicBezTo>
                  <a:pt x="12604" y="17233"/>
                  <a:pt x="12556" y="17224"/>
                  <a:pt x="12542" y="17173"/>
                </a:cubicBezTo>
                <a:cubicBezTo>
                  <a:pt x="12534" y="17140"/>
                  <a:pt x="12531" y="17105"/>
                  <a:pt x="12538" y="17096"/>
                </a:cubicBezTo>
                <a:cubicBezTo>
                  <a:pt x="12557" y="17069"/>
                  <a:pt x="13109" y="17075"/>
                  <a:pt x="13141" y="17102"/>
                </a:cubicBezTo>
                <a:close/>
                <a:moveTo>
                  <a:pt x="9827" y="15977"/>
                </a:moveTo>
                <a:cubicBezTo>
                  <a:pt x="9927" y="15995"/>
                  <a:pt x="9937" y="16006"/>
                  <a:pt x="9934" y="16093"/>
                </a:cubicBezTo>
                <a:cubicBezTo>
                  <a:pt x="9931" y="16145"/>
                  <a:pt x="9932" y="16200"/>
                  <a:pt x="9935" y="16216"/>
                </a:cubicBezTo>
                <a:cubicBezTo>
                  <a:pt x="9938" y="16231"/>
                  <a:pt x="9943" y="16255"/>
                  <a:pt x="9945" y="16271"/>
                </a:cubicBezTo>
                <a:cubicBezTo>
                  <a:pt x="9947" y="16286"/>
                  <a:pt x="9957" y="16318"/>
                  <a:pt x="9968" y="16341"/>
                </a:cubicBezTo>
                <a:cubicBezTo>
                  <a:pt x="9996" y="16406"/>
                  <a:pt x="9965" y="16419"/>
                  <a:pt x="9773" y="16419"/>
                </a:cubicBezTo>
                <a:cubicBezTo>
                  <a:pt x="9677" y="16418"/>
                  <a:pt x="9591" y="16428"/>
                  <a:pt x="9582" y="16441"/>
                </a:cubicBezTo>
                <a:cubicBezTo>
                  <a:pt x="9566" y="16463"/>
                  <a:pt x="9552" y="16463"/>
                  <a:pt x="9399" y="16436"/>
                </a:cubicBezTo>
                <a:cubicBezTo>
                  <a:pt x="9320" y="16422"/>
                  <a:pt x="9315" y="16413"/>
                  <a:pt x="9330" y="16323"/>
                </a:cubicBezTo>
                <a:cubicBezTo>
                  <a:pt x="9339" y="16269"/>
                  <a:pt x="9346" y="16180"/>
                  <a:pt x="9345" y="16126"/>
                </a:cubicBezTo>
                <a:cubicBezTo>
                  <a:pt x="9344" y="16072"/>
                  <a:pt x="9355" y="16018"/>
                  <a:pt x="9369" y="16005"/>
                </a:cubicBezTo>
                <a:cubicBezTo>
                  <a:pt x="9407" y="15972"/>
                  <a:pt x="9698" y="15955"/>
                  <a:pt x="9827" y="15977"/>
                </a:cubicBezTo>
                <a:close/>
                <a:moveTo>
                  <a:pt x="5263" y="16208"/>
                </a:moveTo>
                <a:cubicBezTo>
                  <a:pt x="5263" y="16295"/>
                  <a:pt x="5146" y="16345"/>
                  <a:pt x="5080" y="16286"/>
                </a:cubicBezTo>
                <a:cubicBezTo>
                  <a:pt x="5043" y="16253"/>
                  <a:pt x="5029" y="16257"/>
                  <a:pt x="5010" y="16304"/>
                </a:cubicBezTo>
                <a:cubicBezTo>
                  <a:pt x="4996" y="16340"/>
                  <a:pt x="4974" y="16352"/>
                  <a:pt x="4954" y="16334"/>
                </a:cubicBezTo>
                <a:cubicBezTo>
                  <a:pt x="4918" y="16303"/>
                  <a:pt x="4587" y="16299"/>
                  <a:pt x="4441" y="16329"/>
                </a:cubicBezTo>
                <a:cubicBezTo>
                  <a:pt x="4392" y="16339"/>
                  <a:pt x="4325" y="16332"/>
                  <a:pt x="4293" y="16315"/>
                </a:cubicBezTo>
                <a:cubicBezTo>
                  <a:pt x="4262" y="16297"/>
                  <a:pt x="4236" y="16269"/>
                  <a:pt x="4236" y="16253"/>
                </a:cubicBezTo>
                <a:cubicBezTo>
                  <a:pt x="4237" y="16158"/>
                  <a:pt x="4289" y="16140"/>
                  <a:pt x="4561" y="16141"/>
                </a:cubicBezTo>
                <a:cubicBezTo>
                  <a:pt x="4718" y="16141"/>
                  <a:pt x="4859" y="16131"/>
                  <a:pt x="4873" y="16118"/>
                </a:cubicBezTo>
                <a:cubicBezTo>
                  <a:pt x="4888" y="16106"/>
                  <a:pt x="4906" y="16109"/>
                  <a:pt x="4913" y="16126"/>
                </a:cubicBezTo>
                <a:cubicBezTo>
                  <a:pt x="4927" y="16159"/>
                  <a:pt x="5094" y="16150"/>
                  <a:pt x="5135" y="16114"/>
                </a:cubicBezTo>
                <a:cubicBezTo>
                  <a:pt x="5180" y="16075"/>
                  <a:pt x="5263" y="16136"/>
                  <a:pt x="5263" y="16208"/>
                </a:cubicBezTo>
                <a:close/>
                <a:moveTo>
                  <a:pt x="18162" y="12091"/>
                </a:moveTo>
                <a:cubicBezTo>
                  <a:pt x="18233" y="12130"/>
                  <a:pt x="18303" y="12157"/>
                  <a:pt x="18318" y="12149"/>
                </a:cubicBezTo>
                <a:cubicBezTo>
                  <a:pt x="18333" y="12141"/>
                  <a:pt x="18367" y="12168"/>
                  <a:pt x="18393" y="12209"/>
                </a:cubicBezTo>
                <a:cubicBezTo>
                  <a:pt x="18439" y="12282"/>
                  <a:pt x="18467" y="12283"/>
                  <a:pt x="19767" y="12283"/>
                </a:cubicBezTo>
                <a:cubicBezTo>
                  <a:pt x="21020" y="12283"/>
                  <a:pt x="21096" y="12287"/>
                  <a:pt x="21136" y="12350"/>
                </a:cubicBezTo>
                <a:cubicBezTo>
                  <a:pt x="21171" y="12406"/>
                  <a:pt x="21179" y="12505"/>
                  <a:pt x="21179" y="12939"/>
                </a:cubicBezTo>
                <a:cubicBezTo>
                  <a:pt x="21179" y="13229"/>
                  <a:pt x="21167" y="13493"/>
                  <a:pt x="21152" y="13532"/>
                </a:cubicBezTo>
                <a:cubicBezTo>
                  <a:pt x="21126" y="13601"/>
                  <a:pt x="21081" y="13603"/>
                  <a:pt x="19561" y="13603"/>
                </a:cubicBezTo>
                <a:cubicBezTo>
                  <a:pt x="18041" y="13603"/>
                  <a:pt x="17996" y="13601"/>
                  <a:pt x="17971" y="13532"/>
                </a:cubicBezTo>
                <a:cubicBezTo>
                  <a:pt x="17956" y="13493"/>
                  <a:pt x="17944" y="13227"/>
                  <a:pt x="17944" y="12933"/>
                </a:cubicBezTo>
                <a:cubicBezTo>
                  <a:pt x="17944" y="12340"/>
                  <a:pt x="17955" y="12299"/>
                  <a:pt x="18124" y="12277"/>
                </a:cubicBezTo>
                <a:cubicBezTo>
                  <a:pt x="18221" y="12264"/>
                  <a:pt x="18252" y="12165"/>
                  <a:pt x="18162" y="12155"/>
                </a:cubicBezTo>
                <a:cubicBezTo>
                  <a:pt x="18100" y="12149"/>
                  <a:pt x="17740" y="11955"/>
                  <a:pt x="17690" y="11901"/>
                </a:cubicBezTo>
                <a:cubicBezTo>
                  <a:pt x="17671" y="11880"/>
                  <a:pt x="17637" y="11862"/>
                  <a:pt x="17615" y="11862"/>
                </a:cubicBezTo>
                <a:cubicBezTo>
                  <a:pt x="17594" y="11862"/>
                  <a:pt x="17571" y="11841"/>
                  <a:pt x="17565" y="11815"/>
                </a:cubicBezTo>
                <a:cubicBezTo>
                  <a:pt x="17555" y="11772"/>
                  <a:pt x="17785" y="11878"/>
                  <a:pt x="18162" y="12091"/>
                </a:cubicBezTo>
                <a:close/>
                <a:moveTo>
                  <a:pt x="18019" y="11153"/>
                </a:moveTo>
                <a:cubicBezTo>
                  <a:pt x="18124" y="11159"/>
                  <a:pt x="18127" y="11162"/>
                  <a:pt x="18120" y="11277"/>
                </a:cubicBezTo>
                <a:cubicBezTo>
                  <a:pt x="18116" y="11342"/>
                  <a:pt x="18127" y="11419"/>
                  <a:pt x="18144" y="11449"/>
                </a:cubicBezTo>
                <a:cubicBezTo>
                  <a:pt x="18186" y="11521"/>
                  <a:pt x="18126" y="11597"/>
                  <a:pt x="18039" y="11581"/>
                </a:cubicBezTo>
                <a:cubicBezTo>
                  <a:pt x="18005" y="11574"/>
                  <a:pt x="17959" y="11591"/>
                  <a:pt x="17936" y="11617"/>
                </a:cubicBezTo>
                <a:cubicBezTo>
                  <a:pt x="17903" y="11657"/>
                  <a:pt x="17885" y="11655"/>
                  <a:pt x="17834" y="11606"/>
                </a:cubicBezTo>
                <a:cubicBezTo>
                  <a:pt x="17778" y="11554"/>
                  <a:pt x="17768" y="11554"/>
                  <a:pt x="17739" y="11604"/>
                </a:cubicBezTo>
                <a:cubicBezTo>
                  <a:pt x="17702" y="11669"/>
                  <a:pt x="17671" y="11675"/>
                  <a:pt x="17649" y="11623"/>
                </a:cubicBezTo>
                <a:cubicBezTo>
                  <a:pt x="17640" y="11603"/>
                  <a:pt x="17570" y="11586"/>
                  <a:pt x="17493" y="11586"/>
                </a:cubicBezTo>
                <a:cubicBezTo>
                  <a:pt x="17388" y="11586"/>
                  <a:pt x="17354" y="11573"/>
                  <a:pt x="17354" y="11533"/>
                </a:cubicBezTo>
                <a:cubicBezTo>
                  <a:pt x="17354" y="11503"/>
                  <a:pt x="17377" y="11462"/>
                  <a:pt x="17405" y="11440"/>
                </a:cubicBezTo>
                <a:cubicBezTo>
                  <a:pt x="17448" y="11407"/>
                  <a:pt x="17451" y="11390"/>
                  <a:pt x="17425" y="11330"/>
                </a:cubicBezTo>
                <a:cubicBezTo>
                  <a:pt x="17404" y="11283"/>
                  <a:pt x="17402" y="11246"/>
                  <a:pt x="17418" y="11223"/>
                </a:cubicBezTo>
                <a:cubicBezTo>
                  <a:pt x="17453" y="11175"/>
                  <a:pt x="17812" y="11144"/>
                  <a:pt x="17831" y="11188"/>
                </a:cubicBezTo>
                <a:cubicBezTo>
                  <a:pt x="17840" y="11210"/>
                  <a:pt x="17858" y="11209"/>
                  <a:pt x="17878" y="11185"/>
                </a:cubicBezTo>
                <a:cubicBezTo>
                  <a:pt x="17896" y="11164"/>
                  <a:pt x="17959" y="11149"/>
                  <a:pt x="18019" y="11153"/>
                </a:cubicBezTo>
                <a:close/>
                <a:moveTo>
                  <a:pt x="6744" y="11315"/>
                </a:moveTo>
                <a:cubicBezTo>
                  <a:pt x="6826" y="11320"/>
                  <a:pt x="6946" y="11326"/>
                  <a:pt x="7012" y="11327"/>
                </a:cubicBezTo>
                <a:cubicBezTo>
                  <a:pt x="7162" y="11331"/>
                  <a:pt x="7195" y="11411"/>
                  <a:pt x="7080" y="11493"/>
                </a:cubicBezTo>
                <a:cubicBezTo>
                  <a:pt x="6985" y="11560"/>
                  <a:pt x="6999" y="11558"/>
                  <a:pt x="6966" y="11512"/>
                </a:cubicBezTo>
                <a:cubicBezTo>
                  <a:pt x="6952" y="11491"/>
                  <a:pt x="6780" y="11471"/>
                  <a:pt x="6570" y="11466"/>
                </a:cubicBezTo>
                <a:cubicBezTo>
                  <a:pt x="6248" y="11459"/>
                  <a:pt x="6199" y="11450"/>
                  <a:pt x="6192" y="11397"/>
                </a:cubicBezTo>
                <a:cubicBezTo>
                  <a:pt x="6182" y="11322"/>
                  <a:pt x="6250" y="11304"/>
                  <a:pt x="6439" y="11332"/>
                </a:cubicBezTo>
                <a:cubicBezTo>
                  <a:pt x="6513" y="11343"/>
                  <a:pt x="6579" y="11342"/>
                  <a:pt x="6585" y="11329"/>
                </a:cubicBezTo>
                <a:cubicBezTo>
                  <a:pt x="6590" y="11317"/>
                  <a:pt x="6662" y="11310"/>
                  <a:pt x="6744" y="11315"/>
                </a:cubicBezTo>
                <a:close/>
                <a:moveTo>
                  <a:pt x="9909" y="11393"/>
                </a:moveTo>
                <a:cubicBezTo>
                  <a:pt x="9909" y="11475"/>
                  <a:pt x="9905" y="11475"/>
                  <a:pt x="9518" y="11478"/>
                </a:cubicBezTo>
                <a:cubicBezTo>
                  <a:pt x="9302" y="11479"/>
                  <a:pt x="9093" y="11479"/>
                  <a:pt x="9052" y="11477"/>
                </a:cubicBezTo>
                <a:cubicBezTo>
                  <a:pt x="9012" y="11476"/>
                  <a:pt x="8965" y="11491"/>
                  <a:pt x="8948" y="11511"/>
                </a:cubicBezTo>
                <a:cubicBezTo>
                  <a:pt x="8927" y="11536"/>
                  <a:pt x="8907" y="11534"/>
                  <a:pt x="8887" y="11505"/>
                </a:cubicBezTo>
                <a:cubicBezTo>
                  <a:pt x="8870" y="11481"/>
                  <a:pt x="8856" y="11432"/>
                  <a:pt x="8856" y="11396"/>
                </a:cubicBezTo>
                <a:cubicBezTo>
                  <a:pt x="8856" y="11339"/>
                  <a:pt x="8881" y="11329"/>
                  <a:pt x="9030" y="11327"/>
                </a:cubicBezTo>
                <a:cubicBezTo>
                  <a:pt x="9125" y="11326"/>
                  <a:pt x="9362" y="11321"/>
                  <a:pt x="9556" y="11318"/>
                </a:cubicBezTo>
                <a:cubicBezTo>
                  <a:pt x="9905" y="11312"/>
                  <a:pt x="9909" y="11312"/>
                  <a:pt x="9909" y="11393"/>
                </a:cubicBezTo>
                <a:close/>
                <a:moveTo>
                  <a:pt x="15736" y="11433"/>
                </a:moveTo>
                <a:cubicBezTo>
                  <a:pt x="15736" y="11485"/>
                  <a:pt x="15708" y="11495"/>
                  <a:pt x="15555" y="11495"/>
                </a:cubicBezTo>
                <a:cubicBezTo>
                  <a:pt x="15455" y="11495"/>
                  <a:pt x="15369" y="11490"/>
                  <a:pt x="15365" y="11484"/>
                </a:cubicBezTo>
                <a:cubicBezTo>
                  <a:pt x="15360" y="11477"/>
                  <a:pt x="15216" y="11473"/>
                  <a:pt x="15043" y="11474"/>
                </a:cubicBezTo>
                <a:cubicBezTo>
                  <a:pt x="14708" y="11475"/>
                  <a:pt x="14664" y="11463"/>
                  <a:pt x="14711" y="11383"/>
                </a:cubicBezTo>
                <a:cubicBezTo>
                  <a:pt x="14733" y="11344"/>
                  <a:pt x="14829" y="11331"/>
                  <a:pt x="15103" y="11327"/>
                </a:cubicBezTo>
                <a:cubicBezTo>
                  <a:pt x="15715" y="11319"/>
                  <a:pt x="15736" y="11322"/>
                  <a:pt x="15736" y="11433"/>
                </a:cubicBezTo>
                <a:close/>
                <a:moveTo>
                  <a:pt x="12452" y="8736"/>
                </a:moveTo>
                <a:cubicBezTo>
                  <a:pt x="12453" y="8781"/>
                  <a:pt x="12458" y="8847"/>
                  <a:pt x="12463" y="8882"/>
                </a:cubicBezTo>
                <a:cubicBezTo>
                  <a:pt x="12474" y="8963"/>
                  <a:pt x="12439" y="8997"/>
                  <a:pt x="12405" y="8937"/>
                </a:cubicBezTo>
                <a:cubicBezTo>
                  <a:pt x="12375" y="8884"/>
                  <a:pt x="12394" y="8653"/>
                  <a:pt x="12428" y="8653"/>
                </a:cubicBezTo>
                <a:cubicBezTo>
                  <a:pt x="12440" y="8653"/>
                  <a:pt x="12451" y="8690"/>
                  <a:pt x="12452" y="8736"/>
                </a:cubicBezTo>
                <a:close/>
                <a:moveTo>
                  <a:pt x="10469" y="6057"/>
                </a:moveTo>
                <a:cubicBezTo>
                  <a:pt x="10490" y="6088"/>
                  <a:pt x="10499" y="6274"/>
                  <a:pt x="10499" y="6660"/>
                </a:cubicBezTo>
                <a:cubicBezTo>
                  <a:pt x="10499" y="7118"/>
                  <a:pt x="10492" y="7228"/>
                  <a:pt x="10459" y="7276"/>
                </a:cubicBezTo>
                <a:cubicBezTo>
                  <a:pt x="10425" y="7324"/>
                  <a:pt x="10337" y="7333"/>
                  <a:pt x="9896" y="7333"/>
                </a:cubicBezTo>
                <a:cubicBezTo>
                  <a:pt x="9605" y="7333"/>
                  <a:pt x="9366" y="7348"/>
                  <a:pt x="9358" y="7367"/>
                </a:cubicBezTo>
                <a:cubicBezTo>
                  <a:pt x="9350" y="7386"/>
                  <a:pt x="9514" y="7528"/>
                  <a:pt x="9723" y="7685"/>
                </a:cubicBezTo>
                <a:cubicBezTo>
                  <a:pt x="9931" y="7841"/>
                  <a:pt x="10111" y="7991"/>
                  <a:pt x="10122" y="8018"/>
                </a:cubicBezTo>
                <a:cubicBezTo>
                  <a:pt x="10134" y="8046"/>
                  <a:pt x="10152" y="8061"/>
                  <a:pt x="10162" y="8051"/>
                </a:cubicBezTo>
                <a:cubicBezTo>
                  <a:pt x="10188" y="8028"/>
                  <a:pt x="10738" y="8449"/>
                  <a:pt x="10751" y="8501"/>
                </a:cubicBezTo>
                <a:cubicBezTo>
                  <a:pt x="10766" y="8566"/>
                  <a:pt x="10734" y="8549"/>
                  <a:pt x="10512" y="8378"/>
                </a:cubicBezTo>
                <a:cubicBezTo>
                  <a:pt x="10399" y="8290"/>
                  <a:pt x="10290" y="8197"/>
                  <a:pt x="10270" y="8171"/>
                </a:cubicBezTo>
                <a:cubicBezTo>
                  <a:pt x="10249" y="8145"/>
                  <a:pt x="10218" y="8121"/>
                  <a:pt x="10200" y="8117"/>
                </a:cubicBezTo>
                <a:cubicBezTo>
                  <a:pt x="10182" y="8113"/>
                  <a:pt x="9936" y="7935"/>
                  <a:pt x="9654" y="7722"/>
                </a:cubicBezTo>
                <a:lnTo>
                  <a:pt x="9142" y="7333"/>
                </a:lnTo>
                <a:lnTo>
                  <a:pt x="7718" y="7333"/>
                </a:lnTo>
                <a:cubicBezTo>
                  <a:pt x="6457" y="7333"/>
                  <a:pt x="6288" y="7327"/>
                  <a:pt x="6253" y="7276"/>
                </a:cubicBezTo>
                <a:cubicBezTo>
                  <a:pt x="6220" y="7228"/>
                  <a:pt x="6212" y="7118"/>
                  <a:pt x="6212" y="6660"/>
                </a:cubicBezTo>
                <a:cubicBezTo>
                  <a:pt x="6212" y="6274"/>
                  <a:pt x="6222" y="6088"/>
                  <a:pt x="6243" y="6057"/>
                </a:cubicBezTo>
                <a:cubicBezTo>
                  <a:pt x="6288" y="5994"/>
                  <a:pt x="10424" y="5994"/>
                  <a:pt x="10469" y="6057"/>
                </a:cubicBezTo>
                <a:close/>
                <a:moveTo>
                  <a:pt x="11804" y="8111"/>
                </a:moveTo>
                <a:cubicBezTo>
                  <a:pt x="11808" y="8143"/>
                  <a:pt x="11800" y="8180"/>
                  <a:pt x="11786" y="8192"/>
                </a:cubicBezTo>
                <a:cubicBezTo>
                  <a:pt x="11771" y="8206"/>
                  <a:pt x="11770" y="8256"/>
                  <a:pt x="11783" y="8324"/>
                </a:cubicBezTo>
                <a:cubicBezTo>
                  <a:pt x="11795" y="8384"/>
                  <a:pt x="11803" y="8435"/>
                  <a:pt x="11800" y="8437"/>
                </a:cubicBezTo>
                <a:cubicBezTo>
                  <a:pt x="11798" y="8439"/>
                  <a:pt x="11608" y="8448"/>
                  <a:pt x="11378" y="8457"/>
                </a:cubicBezTo>
                <a:cubicBezTo>
                  <a:pt x="11010" y="8472"/>
                  <a:pt x="10959" y="8467"/>
                  <a:pt x="10945" y="8414"/>
                </a:cubicBezTo>
                <a:cubicBezTo>
                  <a:pt x="10936" y="8382"/>
                  <a:pt x="10941" y="8337"/>
                  <a:pt x="10956" y="8316"/>
                </a:cubicBezTo>
                <a:cubicBezTo>
                  <a:pt x="10975" y="8289"/>
                  <a:pt x="10975" y="8258"/>
                  <a:pt x="10956" y="8213"/>
                </a:cubicBezTo>
                <a:cubicBezTo>
                  <a:pt x="10898" y="8081"/>
                  <a:pt x="10945" y="8042"/>
                  <a:pt x="11171" y="8032"/>
                </a:cubicBezTo>
                <a:cubicBezTo>
                  <a:pt x="11624" y="8014"/>
                  <a:pt x="11793" y="8035"/>
                  <a:pt x="11804" y="8111"/>
                </a:cubicBezTo>
                <a:close/>
                <a:moveTo>
                  <a:pt x="13151" y="8039"/>
                </a:moveTo>
                <a:cubicBezTo>
                  <a:pt x="13192" y="8077"/>
                  <a:pt x="13231" y="8082"/>
                  <a:pt x="13294" y="8058"/>
                </a:cubicBezTo>
                <a:cubicBezTo>
                  <a:pt x="13426" y="8008"/>
                  <a:pt x="13447" y="8036"/>
                  <a:pt x="13444" y="8260"/>
                </a:cubicBezTo>
                <a:cubicBezTo>
                  <a:pt x="13441" y="8455"/>
                  <a:pt x="13440" y="8458"/>
                  <a:pt x="13363" y="8459"/>
                </a:cubicBezTo>
                <a:cubicBezTo>
                  <a:pt x="13320" y="8459"/>
                  <a:pt x="13271" y="8445"/>
                  <a:pt x="13255" y="8426"/>
                </a:cubicBezTo>
                <a:cubicBezTo>
                  <a:pt x="13237" y="8406"/>
                  <a:pt x="13219" y="8406"/>
                  <a:pt x="13211" y="8426"/>
                </a:cubicBezTo>
                <a:cubicBezTo>
                  <a:pt x="13203" y="8445"/>
                  <a:pt x="13062" y="8460"/>
                  <a:pt x="12899" y="8461"/>
                </a:cubicBezTo>
                <a:lnTo>
                  <a:pt x="12601" y="8462"/>
                </a:lnTo>
                <a:lnTo>
                  <a:pt x="12607" y="8365"/>
                </a:lnTo>
                <a:cubicBezTo>
                  <a:pt x="12609" y="8312"/>
                  <a:pt x="12603" y="8240"/>
                  <a:pt x="12593" y="8205"/>
                </a:cubicBezTo>
                <a:cubicBezTo>
                  <a:pt x="12553" y="8074"/>
                  <a:pt x="12588" y="8048"/>
                  <a:pt x="12814" y="8045"/>
                </a:cubicBezTo>
                <a:cubicBezTo>
                  <a:pt x="12934" y="8043"/>
                  <a:pt x="13046" y="8030"/>
                  <a:pt x="13063" y="8014"/>
                </a:cubicBezTo>
                <a:cubicBezTo>
                  <a:pt x="13080" y="7999"/>
                  <a:pt x="13120" y="8010"/>
                  <a:pt x="13151" y="8039"/>
                </a:cubicBezTo>
                <a:close/>
                <a:moveTo>
                  <a:pt x="15518" y="8039"/>
                </a:moveTo>
                <a:cubicBezTo>
                  <a:pt x="15636" y="8047"/>
                  <a:pt x="15673" y="8063"/>
                  <a:pt x="15680" y="8109"/>
                </a:cubicBezTo>
                <a:cubicBezTo>
                  <a:pt x="15684" y="8143"/>
                  <a:pt x="15676" y="8180"/>
                  <a:pt x="15663" y="8192"/>
                </a:cubicBezTo>
                <a:cubicBezTo>
                  <a:pt x="15647" y="8206"/>
                  <a:pt x="15646" y="8256"/>
                  <a:pt x="15659" y="8324"/>
                </a:cubicBezTo>
                <a:cubicBezTo>
                  <a:pt x="15671" y="8384"/>
                  <a:pt x="15679" y="8435"/>
                  <a:pt x="15677" y="8437"/>
                </a:cubicBezTo>
                <a:cubicBezTo>
                  <a:pt x="15674" y="8440"/>
                  <a:pt x="15484" y="8448"/>
                  <a:pt x="15254" y="8456"/>
                </a:cubicBezTo>
                <a:cubicBezTo>
                  <a:pt x="14898" y="8468"/>
                  <a:pt x="14834" y="8462"/>
                  <a:pt x="14821" y="8414"/>
                </a:cubicBezTo>
                <a:cubicBezTo>
                  <a:pt x="14813" y="8384"/>
                  <a:pt x="14820" y="8336"/>
                  <a:pt x="14836" y="8308"/>
                </a:cubicBezTo>
                <a:cubicBezTo>
                  <a:pt x="14857" y="8273"/>
                  <a:pt x="14858" y="8249"/>
                  <a:pt x="14839" y="8233"/>
                </a:cubicBezTo>
                <a:cubicBezTo>
                  <a:pt x="14804" y="8202"/>
                  <a:pt x="14804" y="8078"/>
                  <a:pt x="14839" y="8047"/>
                </a:cubicBezTo>
                <a:cubicBezTo>
                  <a:pt x="14854" y="8034"/>
                  <a:pt x="14882" y="8042"/>
                  <a:pt x="14901" y="8065"/>
                </a:cubicBezTo>
                <a:cubicBezTo>
                  <a:pt x="14926" y="8094"/>
                  <a:pt x="14941" y="8095"/>
                  <a:pt x="14953" y="8067"/>
                </a:cubicBezTo>
                <a:cubicBezTo>
                  <a:pt x="14972" y="8024"/>
                  <a:pt x="15155" y="8014"/>
                  <a:pt x="15518" y="8039"/>
                </a:cubicBezTo>
                <a:close/>
                <a:moveTo>
                  <a:pt x="17939" y="6057"/>
                </a:moveTo>
                <a:cubicBezTo>
                  <a:pt x="17960" y="6088"/>
                  <a:pt x="17970" y="6274"/>
                  <a:pt x="17970" y="6660"/>
                </a:cubicBezTo>
                <a:cubicBezTo>
                  <a:pt x="17970" y="7118"/>
                  <a:pt x="17962" y="7228"/>
                  <a:pt x="17929" y="7276"/>
                </a:cubicBezTo>
                <a:cubicBezTo>
                  <a:pt x="17894" y="7326"/>
                  <a:pt x="17744" y="7333"/>
                  <a:pt x="16668" y="7333"/>
                </a:cubicBezTo>
                <a:lnTo>
                  <a:pt x="15446" y="7333"/>
                </a:lnTo>
                <a:lnTo>
                  <a:pt x="15283" y="7463"/>
                </a:lnTo>
                <a:cubicBezTo>
                  <a:pt x="15194" y="7535"/>
                  <a:pt x="15120" y="7580"/>
                  <a:pt x="15119" y="7564"/>
                </a:cubicBezTo>
                <a:cubicBezTo>
                  <a:pt x="15119" y="7548"/>
                  <a:pt x="15105" y="7560"/>
                  <a:pt x="15087" y="7591"/>
                </a:cubicBezTo>
                <a:cubicBezTo>
                  <a:pt x="15038" y="7680"/>
                  <a:pt x="14817" y="7851"/>
                  <a:pt x="14801" y="7813"/>
                </a:cubicBezTo>
                <a:cubicBezTo>
                  <a:pt x="14793" y="7794"/>
                  <a:pt x="14890" y="7694"/>
                  <a:pt x="15018" y="7590"/>
                </a:cubicBezTo>
                <a:cubicBezTo>
                  <a:pt x="15145" y="7486"/>
                  <a:pt x="15242" y="7385"/>
                  <a:pt x="15234" y="7367"/>
                </a:cubicBezTo>
                <a:cubicBezTo>
                  <a:pt x="15226" y="7348"/>
                  <a:pt x="15043" y="7333"/>
                  <a:pt x="14827" y="7333"/>
                </a:cubicBezTo>
                <a:cubicBezTo>
                  <a:pt x="14322" y="7333"/>
                  <a:pt x="14350" y="7372"/>
                  <a:pt x="14350" y="6677"/>
                </a:cubicBezTo>
                <a:cubicBezTo>
                  <a:pt x="14350" y="6387"/>
                  <a:pt x="14362" y="6124"/>
                  <a:pt x="14377" y="6084"/>
                </a:cubicBezTo>
                <a:cubicBezTo>
                  <a:pt x="14403" y="6015"/>
                  <a:pt x="14449" y="6013"/>
                  <a:pt x="16156" y="6013"/>
                </a:cubicBezTo>
                <a:cubicBezTo>
                  <a:pt x="17484" y="6013"/>
                  <a:pt x="17916" y="6024"/>
                  <a:pt x="17939" y="6057"/>
                </a:cubicBezTo>
                <a:close/>
                <a:moveTo>
                  <a:pt x="13759" y="6084"/>
                </a:moveTo>
                <a:cubicBezTo>
                  <a:pt x="13774" y="6124"/>
                  <a:pt x="13785" y="6389"/>
                  <a:pt x="13785" y="6683"/>
                </a:cubicBezTo>
                <a:cubicBezTo>
                  <a:pt x="13785" y="7147"/>
                  <a:pt x="13780" y="7219"/>
                  <a:pt x="13739" y="7272"/>
                </a:cubicBezTo>
                <a:cubicBezTo>
                  <a:pt x="13699" y="7323"/>
                  <a:pt x="13605" y="7333"/>
                  <a:pt x="13078" y="7342"/>
                </a:cubicBezTo>
                <a:lnTo>
                  <a:pt x="12463" y="7352"/>
                </a:lnTo>
                <a:lnTo>
                  <a:pt x="12463" y="7568"/>
                </a:lnTo>
                <a:cubicBezTo>
                  <a:pt x="12463" y="7878"/>
                  <a:pt x="12404" y="7891"/>
                  <a:pt x="12394" y="7583"/>
                </a:cubicBezTo>
                <a:lnTo>
                  <a:pt x="12386" y="7352"/>
                </a:lnTo>
                <a:lnTo>
                  <a:pt x="11772" y="7342"/>
                </a:lnTo>
                <a:cubicBezTo>
                  <a:pt x="11245" y="7333"/>
                  <a:pt x="11150" y="7323"/>
                  <a:pt x="11111" y="7272"/>
                </a:cubicBezTo>
                <a:cubicBezTo>
                  <a:pt x="11070" y="7219"/>
                  <a:pt x="11064" y="7147"/>
                  <a:pt x="11064" y="6683"/>
                </a:cubicBezTo>
                <a:cubicBezTo>
                  <a:pt x="11064" y="6389"/>
                  <a:pt x="11076" y="6124"/>
                  <a:pt x="11091" y="6084"/>
                </a:cubicBezTo>
                <a:cubicBezTo>
                  <a:pt x="11117" y="6015"/>
                  <a:pt x="11158" y="6013"/>
                  <a:pt x="12425" y="6013"/>
                </a:cubicBezTo>
                <a:cubicBezTo>
                  <a:pt x="13691" y="6013"/>
                  <a:pt x="13733" y="6015"/>
                  <a:pt x="13759" y="6084"/>
                </a:cubicBezTo>
                <a:close/>
                <a:moveTo>
                  <a:pt x="8663" y="5124"/>
                </a:moveTo>
                <a:cubicBezTo>
                  <a:pt x="8652" y="5180"/>
                  <a:pt x="8641" y="5258"/>
                  <a:pt x="8638" y="5298"/>
                </a:cubicBezTo>
                <a:cubicBezTo>
                  <a:pt x="8635" y="5339"/>
                  <a:pt x="8624" y="5400"/>
                  <a:pt x="8613" y="5435"/>
                </a:cubicBezTo>
                <a:cubicBezTo>
                  <a:pt x="8603" y="5470"/>
                  <a:pt x="8581" y="5576"/>
                  <a:pt x="8564" y="5671"/>
                </a:cubicBezTo>
                <a:cubicBezTo>
                  <a:pt x="8547" y="5766"/>
                  <a:pt x="8517" y="5851"/>
                  <a:pt x="8498" y="5860"/>
                </a:cubicBezTo>
                <a:cubicBezTo>
                  <a:pt x="8477" y="5870"/>
                  <a:pt x="8468" y="5857"/>
                  <a:pt x="8477" y="5826"/>
                </a:cubicBezTo>
                <a:cubicBezTo>
                  <a:pt x="8484" y="5798"/>
                  <a:pt x="8505" y="5676"/>
                  <a:pt x="8524" y="5555"/>
                </a:cubicBezTo>
                <a:cubicBezTo>
                  <a:pt x="8542" y="5434"/>
                  <a:pt x="8572" y="5309"/>
                  <a:pt x="8591" y="5277"/>
                </a:cubicBezTo>
                <a:cubicBezTo>
                  <a:pt x="8610" y="5245"/>
                  <a:pt x="8619" y="5209"/>
                  <a:pt x="8610" y="5197"/>
                </a:cubicBezTo>
                <a:cubicBezTo>
                  <a:pt x="8588" y="5165"/>
                  <a:pt x="8625" y="5023"/>
                  <a:pt x="8656" y="5023"/>
                </a:cubicBezTo>
                <a:cubicBezTo>
                  <a:pt x="8672" y="5023"/>
                  <a:pt x="8675" y="5061"/>
                  <a:pt x="8663" y="5124"/>
                </a:cubicBezTo>
                <a:close/>
                <a:moveTo>
                  <a:pt x="16106" y="5533"/>
                </a:moveTo>
                <a:cubicBezTo>
                  <a:pt x="16157" y="5595"/>
                  <a:pt x="16171" y="5746"/>
                  <a:pt x="16131" y="5821"/>
                </a:cubicBezTo>
                <a:cubicBezTo>
                  <a:pt x="16113" y="5856"/>
                  <a:pt x="16096" y="5868"/>
                  <a:pt x="16094" y="5848"/>
                </a:cubicBezTo>
                <a:cubicBezTo>
                  <a:pt x="16069" y="5578"/>
                  <a:pt x="16072" y="5494"/>
                  <a:pt x="16106" y="5533"/>
                </a:cubicBezTo>
                <a:close/>
                <a:moveTo>
                  <a:pt x="13806" y="3014"/>
                </a:moveTo>
                <a:cubicBezTo>
                  <a:pt x="13851" y="3079"/>
                  <a:pt x="13848" y="3974"/>
                  <a:pt x="13802" y="4028"/>
                </a:cubicBezTo>
                <a:cubicBezTo>
                  <a:pt x="13780" y="4055"/>
                  <a:pt x="13545" y="4072"/>
                  <a:pt x="13116" y="4078"/>
                </a:cubicBezTo>
                <a:lnTo>
                  <a:pt x="12463" y="4088"/>
                </a:lnTo>
                <a:lnTo>
                  <a:pt x="12460" y="4308"/>
                </a:lnTo>
                <a:cubicBezTo>
                  <a:pt x="12458" y="4429"/>
                  <a:pt x="12454" y="4645"/>
                  <a:pt x="12450" y="4788"/>
                </a:cubicBezTo>
                <a:cubicBezTo>
                  <a:pt x="12446" y="4931"/>
                  <a:pt x="12448" y="5063"/>
                  <a:pt x="12455" y="5082"/>
                </a:cubicBezTo>
                <a:cubicBezTo>
                  <a:pt x="12481" y="5152"/>
                  <a:pt x="12458" y="5808"/>
                  <a:pt x="12429" y="5822"/>
                </a:cubicBezTo>
                <a:cubicBezTo>
                  <a:pt x="12412" y="5830"/>
                  <a:pt x="12399" y="5814"/>
                  <a:pt x="12398" y="5787"/>
                </a:cubicBezTo>
                <a:cubicBezTo>
                  <a:pt x="12398" y="5760"/>
                  <a:pt x="12395" y="5367"/>
                  <a:pt x="12392" y="4913"/>
                </a:cubicBezTo>
                <a:lnTo>
                  <a:pt x="12386" y="4088"/>
                </a:lnTo>
                <a:lnTo>
                  <a:pt x="11734" y="4078"/>
                </a:lnTo>
                <a:cubicBezTo>
                  <a:pt x="11111" y="4069"/>
                  <a:pt x="10988" y="4048"/>
                  <a:pt x="11026" y="3958"/>
                </a:cubicBezTo>
                <a:cubicBezTo>
                  <a:pt x="11034" y="3942"/>
                  <a:pt x="11028" y="3918"/>
                  <a:pt x="11013" y="3905"/>
                </a:cubicBezTo>
                <a:cubicBezTo>
                  <a:pt x="10969" y="3866"/>
                  <a:pt x="10980" y="3147"/>
                  <a:pt x="11027" y="3051"/>
                </a:cubicBezTo>
                <a:lnTo>
                  <a:pt x="11067" y="2970"/>
                </a:lnTo>
                <a:lnTo>
                  <a:pt x="12421" y="2970"/>
                </a:lnTo>
                <a:cubicBezTo>
                  <a:pt x="13440" y="2970"/>
                  <a:pt x="13783" y="2981"/>
                  <a:pt x="13806" y="3014"/>
                </a:cubicBezTo>
                <a:close/>
                <a:moveTo>
                  <a:pt x="17316" y="4959"/>
                </a:moveTo>
                <a:cubicBezTo>
                  <a:pt x="17318" y="5065"/>
                  <a:pt x="17261" y="5097"/>
                  <a:pt x="17208" y="5020"/>
                </a:cubicBezTo>
                <a:cubicBezTo>
                  <a:pt x="17187" y="4991"/>
                  <a:pt x="17175" y="4991"/>
                  <a:pt x="17162" y="5020"/>
                </a:cubicBezTo>
                <a:cubicBezTo>
                  <a:pt x="17140" y="5071"/>
                  <a:pt x="17028" y="5072"/>
                  <a:pt x="17006" y="5021"/>
                </a:cubicBezTo>
                <a:cubicBezTo>
                  <a:pt x="16995" y="4995"/>
                  <a:pt x="16978" y="4997"/>
                  <a:pt x="16953" y="5027"/>
                </a:cubicBezTo>
                <a:cubicBezTo>
                  <a:pt x="16921" y="5065"/>
                  <a:pt x="16923" y="5081"/>
                  <a:pt x="16968" y="5140"/>
                </a:cubicBezTo>
                <a:cubicBezTo>
                  <a:pt x="17037" y="5232"/>
                  <a:pt x="17033" y="5274"/>
                  <a:pt x="16954" y="5317"/>
                </a:cubicBezTo>
                <a:cubicBezTo>
                  <a:pt x="16879" y="5358"/>
                  <a:pt x="16830" y="5363"/>
                  <a:pt x="16808" y="5331"/>
                </a:cubicBezTo>
                <a:cubicBezTo>
                  <a:pt x="16799" y="5319"/>
                  <a:pt x="16752" y="5309"/>
                  <a:pt x="16703" y="5309"/>
                </a:cubicBezTo>
                <a:cubicBezTo>
                  <a:pt x="16637" y="5309"/>
                  <a:pt x="16610" y="5291"/>
                  <a:pt x="16601" y="5240"/>
                </a:cubicBezTo>
                <a:cubicBezTo>
                  <a:pt x="16594" y="5201"/>
                  <a:pt x="16599" y="5161"/>
                  <a:pt x="16612" y="5149"/>
                </a:cubicBezTo>
                <a:cubicBezTo>
                  <a:pt x="16669" y="5099"/>
                  <a:pt x="16594" y="5060"/>
                  <a:pt x="16442" y="5060"/>
                </a:cubicBezTo>
                <a:cubicBezTo>
                  <a:pt x="16283" y="5060"/>
                  <a:pt x="16218" y="5017"/>
                  <a:pt x="16269" y="4944"/>
                </a:cubicBezTo>
                <a:cubicBezTo>
                  <a:pt x="16283" y="4925"/>
                  <a:pt x="16454" y="4901"/>
                  <a:pt x="16651" y="4893"/>
                </a:cubicBezTo>
                <a:cubicBezTo>
                  <a:pt x="16847" y="4884"/>
                  <a:pt x="17076" y="4873"/>
                  <a:pt x="17161" y="4868"/>
                </a:cubicBezTo>
                <a:cubicBezTo>
                  <a:pt x="17313" y="4858"/>
                  <a:pt x="17315" y="4859"/>
                  <a:pt x="17316" y="4959"/>
                </a:cubicBezTo>
                <a:close/>
                <a:moveTo>
                  <a:pt x="12707" y="4876"/>
                </a:moveTo>
                <a:cubicBezTo>
                  <a:pt x="12748" y="4908"/>
                  <a:pt x="12771" y="4908"/>
                  <a:pt x="12799" y="4875"/>
                </a:cubicBezTo>
                <a:cubicBezTo>
                  <a:pt x="12823" y="4846"/>
                  <a:pt x="12847" y="4843"/>
                  <a:pt x="12868" y="4866"/>
                </a:cubicBezTo>
                <a:cubicBezTo>
                  <a:pt x="12885" y="4886"/>
                  <a:pt x="13038" y="4898"/>
                  <a:pt x="13208" y="4894"/>
                </a:cubicBezTo>
                <a:cubicBezTo>
                  <a:pt x="13611" y="4883"/>
                  <a:pt x="13708" y="4902"/>
                  <a:pt x="13708" y="4991"/>
                </a:cubicBezTo>
                <a:cubicBezTo>
                  <a:pt x="13708" y="5048"/>
                  <a:pt x="13689" y="5060"/>
                  <a:pt x="13594" y="5060"/>
                </a:cubicBezTo>
                <a:cubicBezTo>
                  <a:pt x="13483" y="5060"/>
                  <a:pt x="13425" y="5105"/>
                  <a:pt x="13477" y="5151"/>
                </a:cubicBezTo>
                <a:cubicBezTo>
                  <a:pt x="13491" y="5164"/>
                  <a:pt x="13503" y="5207"/>
                  <a:pt x="13503" y="5248"/>
                </a:cubicBezTo>
                <a:cubicBezTo>
                  <a:pt x="13503" y="5316"/>
                  <a:pt x="13488" y="5321"/>
                  <a:pt x="13284" y="5314"/>
                </a:cubicBezTo>
                <a:cubicBezTo>
                  <a:pt x="13164" y="5309"/>
                  <a:pt x="13058" y="5317"/>
                  <a:pt x="13049" y="5330"/>
                </a:cubicBezTo>
                <a:cubicBezTo>
                  <a:pt x="13040" y="5343"/>
                  <a:pt x="13026" y="5350"/>
                  <a:pt x="13017" y="5347"/>
                </a:cubicBezTo>
                <a:cubicBezTo>
                  <a:pt x="13009" y="5343"/>
                  <a:pt x="12953" y="5334"/>
                  <a:pt x="12893" y="5326"/>
                </a:cubicBezTo>
                <a:cubicBezTo>
                  <a:pt x="12794" y="5314"/>
                  <a:pt x="12784" y="5303"/>
                  <a:pt x="12784" y="5214"/>
                </a:cubicBezTo>
                <a:cubicBezTo>
                  <a:pt x="12783" y="5096"/>
                  <a:pt x="12677" y="4934"/>
                  <a:pt x="12638" y="4991"/>
                </a:cubicBezTo>
                <a:cubicBezTo>
                  <a:pt x="12620" y="5016"/>
                  <a:pt x="12607" y="5003"/>
                  <a:pt x="12597" y="4950"/>
                </a:cubicBezTo>
                <a:cubicBezTo>
                  <a:pt x="12579" y="4854"/>
                  <a:pt x="12631" y="4819"/>
                  <a:pt x="12707" y="4876"/>
                </a:cubicBezTo>
                <a:close/>
                <a:moveTo>
                  <a:pt x="16088" y="5236"/>
                </a:moveTo>
                <a:cubicBezTo>
                  <a:pt x="16095" y="5263"/>
                  <a:pt x="16094" y="5294"/>
                  <a:pt x="16086" y="5307"/>
                </a:cubicBezTo>
                <a:cubicBezTo>
                  <a:pt x="16077" y="5319"/>
                  <a:pt x="16071" y="5297"/>
                  <a:pt x="16072" y="5259"/>
                </a:cubicBezTo>
                <a:cubicBezTo>
                  <a:pt x="16073" y="5216"/>
                  <a:pt x="16079" y="5207"/>
                  <a:pt x="16088" y="5236"/>
                </a:cubicBezTo>
                <a:close/>
                <a:moveTo>
                  <a:pt x="9280" y="5031"/>
                </a:moveTo>
                <a:cubicBezTo>
                  <a:pt x="9337" y="5037"/>
                  <a:pt x="9396" y="5054"/>
                  <a:pt x="9413" y="5070"/>
                </a:cubicBezTo>
                <a:cubicBezTo>
                  <a:pt x="9430" y="5085"/>
                  <a:pt x="9451" y="5081"/>
                  <a:pt x="9460" y="5061"/>
                </a:cubicBezTo>
                <a:cubicBezTo>
                  <a:pt x="9468" y="5040"/>
                  <a:pt x="9504" y="5023"/>
                  <a:pt x="9538" y="5023"/>
                </a:cubicBezTo>
                <a:cubicBezTo>
                  <a:pt x="9611" y="5023"/>
                  <a:pt x="9628" y="5147"/>
                  <a:pt x="9560" y="5184"/>
                </a:cubicBezTo>
                <a:cubicBezTo>
                  <a:pt x="9497" y="5219"/>
                  <a:pt x="9400" y="5210"/>
                  <a:pt x="9382" y="5168"/>
                </a:cubicBezTo>
                <a:cubicBezTo>
                  <a:pt x="9372" y="5145"/>
                  <a:pt x="9353" y="5143"/>
                  <a:pt x="9336" y="5162"/>
                </a:cubicBezTo>
                <a:cubicBezTo>
                  <a:pt x="9319" y="5180"/>
                  <a:pt x="9205" y="5199"/>
                  <a:pt x="9081" y="5203"/>
                </a:cubicBezTo>
                <a:cubicBezTo>
                  <a:pt x="8858" y="5212"/>
                  <a:pt x="8856" y="5211"/>
                  <a:pt x="8856" y="5122"/>
                </a:cubicBezTo>
                <a:cubicBezTo>
                  <a:pt x="8856" y="4996"/>
                  <a:pt x="8883" y="4990"/>
                  <a:pt x="9280" y="5031"/>
                </a:cubicBezTo>
                <a:close/>
                <a:moveTo>
                  <a:pt x="14869" y="2583"/>
                </a:moveTo>
                <a:cubicBezTo>
                  <a:pt x="14879" y="2604"/>
                  <a:pt x="14896" y="2623"/>
                  <a:pt x="14907" y="2626"/>
                </a:cubicBezTo>
                <a:cubicBezTo>
                  <a:pt x="15022" y="2649"/>
                  <a:pt x="15105" y="2702"/>
                  <a:pt x="15138" y="2773"/>
                </a:cubicBezTo>
                <a:lnTo>
                  <a:pt x="15177" y="2860"/>
                </a:lnTo>
                <a:lnTo>
                  <a:pt x="16262" y="2860"/>
                </a:lnTo>
                <a:cubicBezTo>
                  <a:pt x="17279" y="2860"/>
                  <a:pt x="17348" y="2864"/>
                  <a:pt x="17388" y="2927"/>
                </a:cubicBezTo>
                <a:cubicBezTo>
                  <a:pt x="17424" y="2983"/>
                  <a:pt x="17431" y="3082"/>
                  <a:pt x="17430" y="3523"/>
                </a:cubicBezTo>
                <a:cubicBezTo>
                  <a:pt x="17430" y="3814"/>
                  <a:pt x="17419" y="4076"/>
                  <a:pt x="17406" y="4107"/>
                </a:cubicBezTo>
                <a:cubicBezTo>
                  <a:pt x="17385" y="4152"/>
                  <a:pt x="17271" y="4165"/>
                  <a:pt x="16732" y="4180"/>
                </a:cubicBezTo>
                <a:lnTo>
                  <a:pt x="16083" y="4198"/>
                </a:lnTo>
                <a:lnTo>
                  <a:pt x="16069" y="4375"/>
                </a:lnTo>
                <a:cubicBezTo>
                  <a:pt x="16061" y="4472"/>
                  <a:pt x="16064" y="4559"/>
                  <a:pt x="16075" y="4569"/>
                </a:cubicBezTo>
                <a:cubicBezTo>
                  <a:pt x="16106" y="4597"/>
                  <a:pt x="16100" y="5089"/>
                  <a:pt x="16068" y="5117"/>
                </a:cubicBezTo>
                <a:cubicBezTo>
                  <a:pt x="16050" y="5133"/>
                  <a:pt x="16042" y="5066"/>
                  <a:pt x="16045" y="4908"/>
                </a:cubicBezTo>
                <a:cubicBezTo>
                  <a:pt x="16048" y="4780"/>
                  <a:pt x="16043" y="4650"/>
                  <a:pt x="16035" y="4620"/>
                </a:cubicBezTo>
                <a:cubicBezTo>
                  <a:pt x="16027" y="4590"/>
                  <a:pt x="16017" y="4482"/>
                  <a:pt x="16013" y="4382"/>
                </a:cubicBezTo>
                <a:lnTo>
                  <a:pt x="16006" y="4198"/>
                </a:lnTo>
                <a:lnTo>
                  <a:pt x="15318" y="4180"/>
                </a:lnTo>
                <a:cubicBezTo>
                  <a:pt x="14745" y="4165"/>
                  <a:pt x="14626" y="4152"/>
                  <a:pt x="14606" y="4107"/>
                </a:cubicBezTo>
                <a:cubicBezTo>
                  <a:pt x="14593" y="4076"/>
                  <a:pt x="14582" y="3809"/>
                  <a:pt x="14582" y="3513"/>
                </a:cubicBezTo>
                <a:cubicBezTo>
                  <a:pt x="14581" y="2867"/>
                  <a:pt x="14584" y="2860"/>
                  <a:pt x="14825" y="2860"/>
                </a:cubicBezTo>
                <a:cubicBezTo>
                  <a:pt x="15090" y="2860"/>
                  <a:pt x="15069" y="2795"/>
                  <a:pt x="14717" y="2527"/>
                </a:cubicBezTo>
                <a:cubicBezTo>
                  <a:pt x="14601" y="2438"/>
                  <a:pt x="14516" y="2352"/>
                  <a:pt x="14528" y="2335"/>
                </a:cubicBezTo>
                <a:cubicBezTo>
                  <a:pt x="14549" y="2304"/>
                  <a:pt x="14835" y="2511"/>
                  <a:pt x="14869" y="2583"/>
                </a:cubicBezTo>
                <a:close/>
                <a:moveTo>
                  <a:pt x="10487" y="2286"/>
                </a:moveTo>
                <a:cubicBezTo>
                  <a:pt x="10338" y="2403"/>
                  <a:pt x="10217" y="2514"/>
                  <a:pt x="10217" y="2533"/>
                </a:cubicBezTo>
                <a:cubicBezTo>
                  <a:pt x="10217" y="2551"/>
                  <a:pt x="10199" y="2567"/>
                  <a:pt x="10176" y="2567"/>
                </a:cubicBezTo>
                <a:cubicBezTo>
                  <a:pt x="10154" y="2567"/>
                  <a:pt x="10063" y="2624"/>
                  <a:pt x="9975" y="2695"/>
                </a:cubicBezTo>
                <a:cubicBezTo>
                  <a:pt x="9887" y="2765"/>
                  <a:pt x="9808" y="2813"/>
                  <a:pt x="9800" y="2802"/>
                </a:cubicBezTo>
                <a:cubicBezTo>
                  <a:pt x="9792" y="2790"/>
                  <a:pt x="9773" y="2813"/>
                  <a:pt x="9758" y="2852"/>
                </a:cubicBezTo>
                <a:cubicBezTo>
                  <a:pt x="9743" y="2891"/>
                  <a:pt x="9738" y="2934"/>
                  <a:pt x="9747" y="2947"/>
                </a:cubicBezTo>
                <a:cubicBezTo>
                  <a:pt x="9756" y="2960"/>
                  <a:pt x="9846" y="2970"/>
                  <a:pt x="9948" y="2970"/>
                </a:cubicBezTo>
                <a:cubicBezTo>
                  <a:pt x="10049" y="2970"/>
                  <a:pt x="10140" y="2982"/>
                  <a:pt x="10151" y="2997"/>
                </a:cubicBezTo>
                <a:cubicBezTo>
                  <a:pt x="10161" y="3013"/>
                  <a:pt x="10183" y="3025"/>
                  <a:pt x="10200" y="3025"/>
                </a:cubicBezTo>
                <a:cubicBezTo>
                  <a:pt x="10242" y="3025"/>
                  <a:pt x="10256" y="3948"/>
                  <a:pt x="10215" y="4019"/>
                </a:cubicBezTo>
                <a:cubicBezTo>
                  <a:pt x="10191" y="4060"/>
                  <a:pt x="10059" y="4070"/>
                  <a:pt x="9537" y="4070"/>
                </a:cubicBezTo>
                <a:cubicBezTo>
                  <a:pt x="9042" y="4070"/>
                  <a:pt x="8882" y="4081"/>
                  <a:pt x="8861" y="4117"/>
                </a:cubicBezTo>
                <a:cubicBezTo>
                  <a:pt x="8846" y="4143"/>
                  <a:pt x="8815" y="4287"/>
                  <a:pt x="8791" y="4438"/>
                </a:cubicBezTo>
                <a:cubicBezTo>
                  <a:pt x="8745" y="4727"/>
                  <a:pt x="8714" y="4840"/>
                  <a:pt x="8680" y="4840"/>
                </a:cubicBezTo>
                <a:cubicBezTo>
                  <a:pt x="8669" y="4840"/>
                  <a:pt x="8687" y="4690"/>
                  <a:pt x="8721" y="4507"/>
                </a:cubicBezTo>
                <a:cubicBezTo>
                  <a:pt x="8755" y="4323"/>
                  <a:pt x="8777" y="4150"/>
                  <a:pt x="8769" y="4122"/>
                </a:cubicBezTo>
                <a:cubicBezTo>
                  <a:pt x="8758" y="4079"/>
                  <a:pt x="8657" y="4070"/>
                  <a:pt x="8217" y="4070"/>
                </a:cubicBezTo>
                <a:cubicBezTo>
                  <a:pt x="7762" y="4070"/>
                  <a:pt x="7673" y="4061"/>
                  <a:pt x="7639" y="4012"/>
                </a:cubicBezTo>
                <a:cubicBezTo>
                  <a:pt x="7580" y="3928"/>
                  <a:pt x="7580" y="3112"/>
                  <a:pt x="7639" y="3028"/>
                </a:cubicBezTo>
                <a:cubicBezTo>
                  <a:pt x="7674" y="2977"/>
                  <a:pt x="7801" y="2970"/>
                  <a:pt x="8639" y="2970"/>
                </a:cubicBezTo>
                <a:cubicBezTo>
                  <a:pt x="9403" y="2970"/>
                  <a:pt x="9603" y="2960"/>
                  <a:pt x="9619" y="2922"/>
                </a:cubicBezTo>
                <a:cubicBezTo>
                  <a:pt x="9630" y="2895"/>
                  <a:pt x="9720" y="2811"/>
                  <a:pt x="9819" y="2734"/>
                </a:cubicBezTo>
                <a:cubicBezTo>
                  <a:pt x="9918" y="2656"/>
                  <a:pt x="10037" y="2553"/>
                  <a:pt x="10084" y="2503"/>
                </a:cubicBezTo>
                <a:cubicBezTo>
                  <a:pt x="10130" y="2454"/>
                  <a:pt x="10185" y="2423"/>
                  <a:pt x="10205" y="2434"/>
                </a:cubicBezTo>
                <a:cubicBezTo>
                  <a:pt x="10225" y="2445"/>
                  <a:pt x="10250" y="2432"/>
                  <a:pt x="10261" y="2406"/>
                </a:cubicBezTo>
                <a:cubicBezTo>
                  <a:pt x="10282" y="2357"/>
                  <a:pt x="10694" y="2017"/>
                  <a:pt x="10733" y="2017"/>
                </a:cubicBezTo>
                <a:cubicBezTo>
                  <a:pt x="10800" y="2017"/>
                  <a:pt x="10729" y="2094"/>
                  <a:pt x="10487" y="2286"/>
                </a:cubicBezTo>
                <a:close/>
                <a:moveTo>
                  <a:pt x="12450" y="2491"/>
                </a:moveTo>
                <a:cubicBezTo>
                  <a:pt x="12450" y="2571"/>
                  <a:pt x="12463" y="2646"/>
                  <a:pt x="12477" y="2659"/>
                </a:cubicBezTo>
                <a:cubicBezTo>
                  <a:pt x="12496" y="2676"/>
                  <a:pt x="12495" y="2700"/>
                  <a:pt x="12474" y="2735"/>
                </a:cubicBezTo>
                <a:cubicBezTo>
                  <a:pt x="12439" y="2795"/>
                  <a:pt x="12407" y="2802"/>
                  <a:pt x="12395" y="2750"/>
                </a:cubicBezTo>
                <a:cubicBezTo>
                  <a:pt x="12378" y="2678"/>
                  <a:pt x="12405" y="2347"/>
                  <a:pt x="12427" y="2347"/>
                </a:cubicBezTo>
                <a:cubicBezTo>
                  <a:pt x="12440" y="2347"/>
                  <a:pt x="12450" y="2412"/>
                  <a:pt x="12450" y="2491"/>
                </a:cubicBezTo>
                <a:close/>
                <a:moveTo>
                  <a:pt x="12787" y="2043"/>
                </a:moveTo>
                <a:cubicBezTo>
                  <a:pt x="12806" y="2070"/>
                  <a:pt x="12837" y="2073"/>
                  <a:pt x="12876" y="2052"/>
                </a:cubicBezTo>
                <a:cubicBezTo>
                  <a:pt x="12914" y="2032"/>
                  <a:pt x="12942" y="2033"/>
                  <a:pt x="12952" y="2056"/>
                </a:cubicBezTo>
                <a:cubicBezTo>
                  <a:pt x="12963" y="2081"/>
                  <a:pt x="12979" y="2081"/>
                  <a:pt x="13001" y="2055"/>
                </a:cubicBezTo>
                <a:cubicBezTo>
                  <a:pt x="13039" y="2009"/>
                  <a:pt x="13067" y="2041"/>
                  <a:pt x="13067" y="2134"/>
                </a:cubicBezTo>
                <a:cubicBezTo>
                  <a:pt x="13067" y="2196"/>
                  <a:pt x="13044" y="2201"/>
                  <a:pt x="12811" y="2195"/>
                </a:cubicBezTo>
                <a:cubicBezTo>
                  <a:pt x="12630" y="2191"/>
                  <a:pt x="12552" y="2176"/>
                  <a:pt x="12543" y="2142"/>
                </a:cubicBezTo>
                <a:cubicBezTo>
                  <a:pt x="12523" y="2067"/>
                  <a:pt x="12593" y="2005"/>
                  <a:pt x="12650" y="2049"/>
                </a:cubicBezTo>
                <a:cubicBezTo>
                  <a:pt x="12685" y="2075"/>
                  <a:pt x="12708" y="2074"/>
                  <a:pt x="12729" y="2044"/>
                </a:cubicBezTo>
                <a:cubicBezTo>
                  <a:pt x="12751" y="2013"/>
                  <a:pt x="12766" y="2013"/>
                  <a:pt x="12787" y="2043"/>
                </a:cubicBezTo>
                <a:close/>
                <a:moveTo>
                  <a:pt x="11023" y="2050"/>
                </a:moveTo>
                <a:cubicBezTo>
                  <a:pt x="11054" y="2087"/>
                  <a:pt x="11074" y="2090"/>
                  <a:pt x="11094" y="2062"/>
                </a:cubicBezTo>
                <a:cubicBezTo>
                  <a:pt x="11112" y="2036"/>
                  <a:pt x="11143" y="2034"/>
                  <a:pt x="11182" y="2055"/>
                </a:cubicBezTo>
                <a:cubicBezTo>
                  <a:pt x="11217" y="2074"/>
                  <a:pt x="11248" y="2074"/>
                  <a:pt x="11256" y="2054"/>
                </a:cubicBezTo>
                <a:cubicBezTo>
                  <a:pt x="11264" y="2036"/>
                  <a:pt x="11302" y="2025"/>
                  <a:pt x="11341" y="2029"/>
                </a:cubicBezTo>
                <a:cubicBezTo>
                  <a:pt x="11392" y="2034"/>
                  <a:pt x="11413" y="2059"/>
                  <a:pt x="11419" y="2119"/>
                </a:cubicBezTo>
                <a:cubicBezTo>
                  <a:pt x="11427" y="2201"/>
                  <a:pt x="11425" y="2202"/>
                  <a:pt x="11156" y="2194"/>
                </a:cubicBezTo>
                <a:cubicBezTo>
                  <a:pt x="10968" y="2188"/>
                  <a:pt x="10885" y="2172"/>
                  <a:pt x="10885" y="2142"/>
                </a:cubicBezTo>
                <a:cubicBezTo>
                  <a:pt x="10885" y="2108"/>
                  <a:pt x="10953" y="1998"/>
                  <a:pt x="10974" y="1998"/>
                </a:cubicBezTo>
                <a:cubicBezTo>
                  <a:pt x="10977" y="1998"/>
                  <a:pt x="10999" y="2022"/>
                  <a:pt x="11023" y="2050"/>
                </a:cubicBezTo>
                <a:close/>
                <a:moveTo>
                  <a:pt x="14966" y="2129"/>
                </a:moveTo>
                <a:cubicBezTo>
                  <a:pt x="14966" y="2196"/>
                  <a:pt x="14948" y="2200"/>
                  <a:pt x="14697" y="2196"/>
                </a:cubicBezTo>
                <a:cubicBezTo>
                  <a:pt x="14500" y="2192"/>
                  <a:pt x="14427" y="2178"/>
                  <a:pt x="14427" y="2145"/>
                </a:cubicBezTo>
                <a:cubicBezTo>
                  <a:pt x="14427" y="2060"/>
                  <a:pt x="14496" y="2008"/>
                  <a:pt x="14552" y="2051"/>
                </a:cubicBezTo>
                <a:cubicBezTo>
                  <a:pt x="14581" y="2072"/>
                  <a:pt x="14610" y="2076"/>
                  <a:pt x="14617" y="2059"/>
                </a:cubicBezTo>
                <a:cubicBezTo>
                  <a:pt x="14633" y="2023"/>
                  <a:pt x="14814" y="2028"/>
                  <a:pt x="14857" y="2066"/>
                </a:cubicBezTo>
                <a:cubicBezTo>
                  <a:pt x="14873" y="2080"/>
                  <a:pt x="14893" y="2074"/>
                  <a:pt x="14902" y="2053"/>
                </a:cubicBezTo>
                <a:cubicBezTo>
                  <a:pt x="14926" y="1998"/>
                  <a:pt x="14966" y="2046"/>
                  <a:pt x="14966" y="2129"/>
                </a:cubicBezTo>
                <a:close/>
                <a:moveTo>
                  <a:pt x="13876" y="38"/>
                </a:moveTo>
                <a:cubicBezTo>
                  <a:pt x="13885" y="59"/>
                  <a:pt x="13892" y="339"/>
                  <a:pt x="13892" y="660"/>
                </a:cubicBezTo>
                <a:cubicBezTo>
                  <a:pt x="13892" y="981"/>
                  <a:pt x="13885" y="1261"/>
                  <a:pt x="13876" y="1282"/>
                </a:cubicBezTo>
                <a:cubicBezTo>
                  <a:pt x="13866" y="1304"/>
                  <a:pt x="13761" y="1320"/>
                  <a:pt x="13631" y="1320"/>
                </a:cubicBezTo>
                <a:cubicBezTo>
                  <a:pt x="13506" y="1320"/>
                  <a:pt x="13397" y="1335"/>
                  <a:pt x="13389" y="1353"/>
                </a:cubicBezTo>
                <a:cubicBezTo>
                  <a:pt x="13381" y="1372"/>
                  <a:pt x="13582" y="1549"/>
                  <a:pt x="13836" y="1748"/>
                </a:cubicBezTo>
                <a:cubicBezTo>
                  <a:pt x="14261" y="2079"/>
                  <a:pt x="14353" y="2168"/>
                  <a:pt x="14267" y="2161"/>
                </a:cubicBezTo>
                <a:cubicBezTo>
                  <a:pt x="14249" y="2159"/>
                  <a:pt x="13998" y="1969"/>
                  <a:pt x="13708" y="1739"/>
                </a:cubicBezTo>
                <a:lnTo>
                  <a:pt x="13182" y="1320"/>
                </a:lnTo>
                <a:lnTo>
                  <a:pt x="12823" y="1329"/>
                </a:lnTo>
                <a:lnTo>
                  <a:pt x="12464" y="1338"/>
                </a:lnTo>
                <a:lnTo>
                  <a:pt x="12449" y="1474"/>
                </a:lnTo>
                <a:cubicBezTo>
                  <a:pt x="12440" y="1549"/>
                  <a:pt x="12442" y="1624"/>
                  <a:pt x="12454" y="1640"/>
                </a:cubicBezTo>
                <a:cubicBezTo>
                  <a:pt x="12479" y="1676"/>
                  <a:pt x="12453" y="1833"/>
                  <a:pt x="12423" y="1833"/>
                </a:cubicBezTo>
                <a:cubicBezTo>
                  <a:pt x="12411" y="1833"/>
                  <a:pt x="12398" y="1722"/>
                  <a:pt x="12394" y="1586"/>
                </a:cubicBezTo>
                <a:lnTo>
                  <a:pt x="12386" y="1338"/>
                </a:lnTo>
                <a:lnTo>
                  <a:pt x="12018" y="1320"/>
                </a:lnTo>
                <a:cubicBezTo>
                  <a:pt x="11767" y="1307"/>
                  <a:pt x="11645" y="1314"/>
                  <a:pt x="11633" y="1342"/>
                </a:cubicBezTo>
                <a:cubicBezTo>
                  <a:pt x="11609" y="1398"/>
                  <a:pt x="11270" y="1663"/>
                  <a:pt x="11269" y="1626"/>
                </a:cubicBezTo>
                <a:cubicBezTo>
                  <a:pt x="11268" y="1609"/>
                  <a:pt x="11254" y="1620"/>
                  <a:pt x="11237" y="1651"/>
                </a:cubicBezTo>
                <a:cubicBezTo>
                  <a:pt x="11188" y="1738"/>
                  <a:pt x="11012" y="1874"/>
                  <a:pt x="10982" y="1847"/>
                </a:cubicBezTo>
                <a:cubicBezTo>
                  <a:pt x="10967" y="1834"/>
                  <a:pt x="11022" y="1769"/>
                  <a:pt x="11104" y="1702"/>
                </a:cubicBezTo>
                <a:cubicBezTo>
                  <a:pt x="11187" y="1636"/>
                  <a:pt x="11262" y="1589"/>
                  <a:pt x="11273" y="1598"/>
                </a:cubicBezTo>
                <a:cubicBezTo>
                  <a:pt x="11283" y="1607"/>
                  <a:pt x="11301" y="1592"/>
                  <a:pt x="11313" y="1564"/>
                </a:cubicBezTo>
                <a:cubicBezTo>
                  <a:pt x="11324" y="1536"/>
                  <a:pt x="11372" y="1486"/>
                  <a:pt x="11418" y="1452"/>
                </a:cubicBezTo>
                <a:cubicBezTo>
                  <a:pt x="11464" y="1418"/>
                  <a:pt x="11495" y="1374"/>
                  <a:pt x="11487" y="1355"/>
                </a:cubicBezTo>
                <a:cubicBezTo>
                  <a:pt x="11479" y="1336"/>
                  <a:pt x="11365" y="1320"/>
                  <a:pt x="11234" y="1320"/>
                </a:cubicBezTo>
                <a:cubicBezTo>
                  <a:pt x="10905" y="1320"/>
                  <a:pt x="10910" y="1331"/>
                  <a:pt x="10910" y="651"/>
                </a:cubicBezTo>
                <a:cubicBezTo>
                  <a:pt x="10910" y="213"/>
                  <a:pt x="10918" y="105"/>
                  <a:pt x="10951" y="58"/>
                </a:cubicBezTo>
                <a:cubicBezTo>
                  <a:pt x="10986" y="7"/>
                  <a:pt x="11155" y="0"/>
                  <a:pt x="12425" y="0"/>
                </a:cubicBezTo>
                <a:cubicBezTo>
                  <a:pt x="13386" y="0"/>
                  <a:pt x="13865" y="13"/>
                  <a:pt x="13876" y="3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44" name="crazy.pngGoogle Shape;118;p15" descr="crazy.pngGoogle Shape;118;p1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377524" y="298623"/>
            <a:ext cx="1167751" cy="1025276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Google Shape;112;p1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TECHNICAL APPROACH</a:t>
            </a:r>
          </a:p>
        </p:txBody>
      </p:sp>
      <p:sp>
        <p:nvSpPr>
          <p:cNvPr id="146" name="ARCHITECTURE…"/>
          <p:cNvSpPr txBox="1"/>
          <p:nvPr/>
        </p:nvSpPr>
        <p:spPr>
          <a:xfrm>
            <a:off x="70024" y="1304514"/>
            <a:ext cx="6126660" cy="1839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1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ARCHITECTURE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1100">
                <a:latin typeface="+mj-lt"/>
                <a:ea typeface="+mj-ea"/>
                <a:cs typeface="+mj-cs"/>
                <a:sym typeface="Helvetica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Multi-Modal Discovery:</a:t>
            </a:r>
            <a:r>
              <a:t> Source Code + Live Network + Binary/Firmware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1100">
                <a:latin typeface="+mj-lt"/>
                <a:ea typeface="+mj-ea"/>
                <a:cs typeface="+mj-cs"/>
                <a:sym typeface="Helvetica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Unified Crypto Knowledge Graph:</a:t>
            </a:r>
            <a:r>
              <a:t> Correlates cryptographic assets 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1100">
                <a:latin typeface="+mj-lt"/>
                <a:ea typeface="+mj-ea"/>
                <a:cs typeface="+mj-cs"/>
                <a:sym typeface="Helvetica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Context-Aware Risk Engine:</a:t>
            </a:r>
            <a:r>
              <a:t> Quantum Risk + HNDL + Data Shelf-Life + Blast Radius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1100">
                <a:latin typeface="+mj-lt"/>
                <a:ea typeface="+mj-ea"/>
                <a:cs typeface="+mj-cs"/>
                <a:sym typeface="Helvetica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PQC Migration Simulator:</a:t>
            </a:r>
            <a:r>
              <a:t> ML-KEM / ML-DSA / Hybrid + MTU, latency &amp; compatibility analysis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1100">
                <a:latin typeface="+mj-lt"/>
                <a:ea typeface="+mj-ea"/>
                <a:cs typeface="+mj-cs"/>
                <a:sym typeface="Helvetica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Guarded Remediation:</a:t>
            </a:r>
            <a:r>
              <a:t> Patch → Compile → Test → Rescan → Human Approval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1100">
                <a:latin typeface="+mj-lt"/>
                <a:ea typeface="+mj-ea"/>
                <a:cs typeface="+mj-cs"/>
                <a:sym typeface="Helvetica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Continuous Posture:</a:t>
            </a:r>
            <a:r>
              <a:t> Incremental scanning + live CBOM generation</a:t>
            </a:r>
          </a:p>
        </p:txBody>
      </p:sp>
      <p:sp>
        <p:nvSpPr>
          <p:cNvPr id="147" name="COMPONENTS…"/>
          <p:cNvSpPr txBox="1"/>
          <p:nvPr/>
        </p:nvSpPr>
        <p:spPr>
          <a:xfrm>
            <a:off x="40527" y="3352824"/>
            <a:ext cx="3914945" cy="2058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1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COMPONENTS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1100">
                <a:latin typeface="+mj-lt"/>
                <a:ea typeface="+mj-ea"/>
                <a:cs typeface="+mj-cs"/>
                <a:sym typeface="Helvetica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Discovery Engine:</a:t>
            </a:r>
            <a:r>
              <a:t> Tree-sitter, Semgrep, Joern, YARA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1100">
                <a:latin typeface="+mj-lt"/>
                <a:ea typeface="+mj-ea"/>
                <a:cs typeface="+mj-cs"/>
                <a:sym typeface="Helvetica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Knowledge Graph:</a:t>
            </a:r>
            <a:r>
              <a:t> Neo4j + PostgreSQL/JSONB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1100">
                <a:latin typeface="+mj-lt"/>
                <a:ea typeface="+mj-ea"/>
                <a:cs typeface="+mj-cs"/>
                <a:sym typeface="Helvetica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Backend:</a:t>
            </a:r>
            <a:r>
              <a:t> Python + FastAPI + Celery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1100">
                <a:latin typeface="+mj-lt"/>
                <a:ea typeface="+mj-ea"/>
                <a:cs typeface="+mj-cs"/>
                <a:sym typeface="Helvetica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Risk &amp; Migration:</a:t>
            </a:r>
            <a:r>
              <a:t> Graph-based analysis + Mosca’s Theorem + PQC simulation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1100">
                <a:latin typeface="+mj-lt"/>
                <a:ea typeface="+mj-ea"/>
                <a:cs typeface="+mj-cs"/>
                <a:sym typeface="Helvetica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Remediation:</a:t>
            </a:r>
            <a:r>
              <a:t> OpenRewrite for AST-safe automated changes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1100">
                <a:latin typeface="+mj-lt"/>
                <a:ea typeface="+mj-ea"/>
                <a:cs typeface="+mj-cs"/>
                <a:sym typeface="Helvetica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Dashboard:</a:t>
            </a:r>
            <a:r>
              <a:t> React + TypeScript + D3.js</a:t>
            </a:r>
          </a:p>
        </p:txBody>
      </p:sp>
      <p:pic>
        <p:nvPicPr>
          <p:cNvPr id="148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rcRect l="1605" t="14993" r="1619" b="9634"/>
          <a:stretch>
            <a:fillRect/>
          </a:stretch>
        </p:blipFill>
        <p:spPr>
          <a:xfrm>
            <a:off x="23388" y="5620427"/>
            <a:ext cx="3949223" cy="10252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29;p16"/>
          <p:cNvSpPr txBox="1"/>
          <p:nvPr/>
        </p:nvSpPr>
        <p:spPr>
          <a:xfrm>
            <a:off x="4693925" y="6404315"/>
            <a:ext cx="3112550" cy="26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pPr/>
            <a:r>
              <a:t>@TEKATHON-3.0- Template</a:t>
            </a:r>
          </a:p>
        </p:txBody>
      </p:sp>
      <p:sp>
        <p:nvSpPr>
          <p:cNvPr id="153" name="Google Shape;131;p16"/>
          <p:cNvSpPr txBox="1"/>
          <p:nvPr/>
        </p:nvSpPr>
        <p:spPr>
          <a:xfrm>
            <a:off x="4693925" y="6404303"/>
            <a:ext cx="3112550" cy="26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pPr/>
            <a:r>
              <a:t>@TEKATHON-4.0- Template</a:t>
            </a:r>
          </a:p>
        </p:txBody>
      </p:sp>
      <p:sp>
        <p:nvSpPr>
          <p:cNvPr id="154" name="Google Shape;125;p16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02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800">
                <a:solidFill>
                  <a:srgbClr val="953734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" name="Google Shape;126;p16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FEASIBILITY AND VIABILITY</a:t>
            </a:r>
          </a:p>
        </p:txBody>
      </p:sp>
      <p:sp>
        <p:nvSpPr>
          <p:cNvPr id="156" name="Google Shape;128;p16"/>
          <p:cNvSpPr txBox="1"/>
          <p:nvPr>
            <p:ph type="sldNum" sz="quarter" idx="2"/>
          </p:nvPr>
        </p:nvSpPr>
        <p:spPr>
          <a:xfrm>
            <a:off x="11393542" y="6404315"/>
            <a:ext cx="188858" cy="2692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57" name="Google Shape;129;p16"/>
          <p:cNvSpPr txBox="1"/>
          <p:nvPr/>
        </p:nvSpPr>
        <p:spPr>
          <a:xfrm>
            <a:off x="4693925" y="6404315"/>
            <a:ext cx="3112550" cy="26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pPr/>
            <a:r>
              <a:t>@TEKATHON-3.0- Template</a:t>
            </a:r>
          </a:p>
        </p:txBody>
      </p:sp>
      <p:sp>
        <p:nvSpPr>
          <p:cNvPr id="158" name="Google Shape;130;p16"/>
          <p:cNvSpPr/>
          <p:nvPr/>
        </p:nvSpPr>
        <p:spPr>
          <a:xfrm>
            <a:off x="0" y="6354762"/>
            <a:ext cx="12192000" cy="503101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800">
                <a:solidFill>
                  <a:srgbClr val="953734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59" name="crazy.pngGoogle Shape;132;p16" descr="crazy.pngGoogle Shape;132;p1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77524" y="298623"/>
            <a:ext cx="1167751" cy="1025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SIH-Logo.pngGoogle Shape;133;p16" descr="SIH-Logo.pngGoogle Shape;133;p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7979" y="280890"/>
            <a:ext cx="1724026" cy="876301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Google Shape;178;p16"/>
          <p:cNvSpPr txBox="1"/>
          <p:nvPr/>
        </p:nvSpPr>
        <p:spPr>
          <a:xfrm>
            <a:off x="476250" y="1269282"/>
            <a:ext cx="112395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Analysis of the feasibility of the idea</a:t>
            </a:r>
          </a:p>
        </p:txBody>
      </p:sp>
      <p:sp>
        <p:nvSpPr>
          <p:cNvPr id="162" name="Google Shape;182;p16"/>
          <p:cNvSpPr txBox="1"/>
          <p:nvPr/>
        </p:nvSpPr>
        <p:spPr>
          <a:xfrm>
            <a:off x="952500" y="1831257"/>
            <a:ext cx="10763250" cy="1340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ct val="139925"/>
              </a:lnSpc>
              <a:buClr>
                <a:srgbClr val="000000"/>
              </a:buClr>
              <a:buSzPct val="100000"/>
              <a:buAutoNum type="arabicPeriod" startAt="1"/>
              <a:defRPr b="1" sz="1300">
                <a:latin typeface="Roboto"/>
                <a:ea typeface="Roboto"/>
                <a:cs typeface="Roboto"/>
                <a:sym typeface="Roboto"/>
              </a:defRPr>
            </a:pPr>
            <a:r>
              <a:t>Sovereign Architecture:</a:t>
            </a:r>
            <a:r>
              <a:rPr b="0"/>
              <a:t> 100% Air-Gapped capability. Zero external cloud API dependencies, ensuring strict compliance for defense networks.</a:t>
            </a:r>
            <a:endParaRPr b="0"/>
          </a:p>
          <a:p>
            <a:pPr>
              <a:lnSpc>
                <a:spcPct val="139925"/>
              </a:lnSpc>
              <a:defRPr b="1" sz="1300">
                <a:latin typeface="Roboto"/>
                <a:ea typeface="Roboto"/>
                <a:cs typeface="Roboto"/>
                <a:sym typeface="Roboto"/>
              </a:defRPr>
            </a:pPr>
            <a:r>
              <a:t>2.  Compilation Independent:</a:t>
            </a:r>
            <a:r>
              <a:rPr b="0"/>
              <a:t> AST parsers read raw code directly, bypassing complex enterprise build environments (e.g., Maven, NPM).</a:t>
            </a:r>
            <a:endParaRPr b="0"/>
          </a:p>
          <a:p>
            <a:pPr>
              <a:lnSpc>
                <a:spcPct val="139925"/>
              </a:lnSpc>
              <a:defRPr b="1" sz="1300">
                <a:latin typeface="Roboto"/>
                <a:ea typeface="Roboto"/>
                <a:cs typeface="Roboto"/>
                <a:sym typeface="Roboto"/>
              </a:defRPr>
            </a:pPr>
            <a:r>
              <a:t>3.  Non-Intrusive Network Probing:</a:t>
            </a:r>
            <a:r>
              <a:rPr b="0"/>
              <a:t> Analyzes TLS client-hello handshakes without interrupting live production traffic.</a:t>
            </a:r>
          </a:p>
        </p:txBody>
      </p:sp>
      <p:pic>
        <p:nvPicPr>
          <p:cNvPr id="163" name="Google Shape;188;p16" descr="Google Shape;188;p1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14375" y="1850307"/>
            <a:ext cx="152400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Google Shape;189;p16" descr="Google Shape;189;p1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14375" y="2444429"/>
            <a:ext cx="152400" cy="1524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7" name="Rectangle: Rounded Corners 12"/>
          <p:cNvGrpSpPr/>
          <p:nvPr/>
        </p:nvGrpSpPr>
        <p:grpSpPr>
          <a:xfrm>
            <a:off x="968748" y="3176316"/>
            <a:ext cx="10730754" cy="1326028"/>
            <a:chOff x="0" y="-1711"/>
            <a:chExt cx="10730753" cy="1326026"/>
          </a:xfrm>
        </p:grpSpPr>
        <p:sp>
          <p:nvSpPr>
            <p:cNvPr id="165" name="Rounded Rectangle"/>
            <p:cNvSpPr/>
            <p:nvPr/>
          </p:nvSpPr>
          <p:spPr>
            <a:xfrm>
              <a:off x="0" y="25747"/>
              <a:ext cx="10730754" cy="1271110"/>
            </a:xfrm>
            <a:prstGeom prst="roundRect">
              <a:avLst>
                <a:gd name="adj" fmla="val 16667"/>
              </a:avLst>
            </a:prstGeom>
            <a:solidFill>
              <a:srgbClr val="0F253F"/>
            </a:solidFill>
            <a:ln w="25400" cap="flat">
              <a:solidFill>
                <a:srgbClr val="21365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6" name="Potential challenges and risks…"/>
            <p:cNvSpPr txBox="1"/>
            <p:nvPr/>
          </p:nvSpPr>
          <p:spPr>
            <a:xfrm>
              <a:off x="2067509" y="-1712"/>
              <a:ext cx="6595735" cy="13260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defRPr>
              </a:pPr>
              <a:r>
                <a:t>Potential challenges and risks</a:t>
              </a:r>
            </a:p>
            <a:p>
              <a:pPr algn="ctr">
                <a:defRPr b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defRPr>
              </a:pPr>
            </a:p>
            <a:p>
              <a:pPr algn="ctr">
                <a:defRPr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Alert Fatigue:</a:t>
              </a:r>
              <a:r>
                <a:rPr b="0"/>
                <a:t> Legacy code dead-paths generating thousands of false positives</a:t>
              </a:r>
            </a:p>
            <a:p>
              <a:pPr algn="ctr">
                <a:defRPr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Scan Bottlenecks:</a:t>
              </a:r>
              <a:r>
                <a:rPr b="0"/>
                <a:t> Enterprise-scale monorepos stalling CI/CD pipelines.</a:t>
              </a:r>
            </a:p>
            <a:p>
              <a:pPr algn="ctr">
                <a:defRPr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Breaking Code:</a:t>
              </a:r>
              <a:r>
                <a:rPr b="0"/>
                <a:t> Automated crypto fixes crashing applications silently.</a:t>
              </a:r>
            </a:p>
          </p:txBody>
        </p:sp>
      </p:grpSp>
      <p:sp>
        <p:nvSpPr>
          <p:cNvPr id="168" name="TextBox 13"/>
          <p:cNvSpPr txBox="1"/>
          <p:nvPr/>
        </p:nvSpPr>
        <p:spPr>
          <a:xfrm>
            <a:off x="521969" y="4591665"/>
            <a:ext cx="11014712" cy="554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Strategies for overcoming these challenges</a:t>
            </a:r>
          </a:p>
        </p:txBody>
      </p:sp>
      <p:grpSp>
        <p:nvGrpSpPr>
          <p:cNvPr id="171" name="Rectangle: Rounded Corners 15"/>
          <p:cNvGrpSpPr/>
          <p:nvPr/>
        </p:nvGrpSpPr>
        <p:grpSpPr>
          <a:xfrm>
            <a:off x="784649" y="5053781"/>
            <a:ext cx="3146323" cy="1111046"/>
            <a:chOff x="0" y="0"/>
            <a:chExt cx="3146321" cy="1111044"/>
          </a:xfrm>
        </p:grpSpPr>
        <p:sp>
          <p:nvSpPr>
            <p:cNvPr id="169" name="Rounded Rectangle"/>
            <p:cNvSpPr/>
            <p:nvPr/>
          </p:nvSpPr>
          <p:spPr>
            <a:xfrm>
              <a:off x="0" y="0"/>
              <a:ext cx="3146322" cy="1111045"/>
            </a:xfrm>
            <a:prstGeom prst="roundRect">
              <a:avLst>
                <a:gd name="adj" fmla="val 16667"/>
              </a:avLst>
            </a:prstGeom>
            <a:solidFill>
              <a:srgbClr val="17375E"/>
            </a:solidFill>
            <a:ln w="25400" cap="flat">
              <a:solidFill>
                <a:srgbClr val="21365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0" name="Reachability Slicing:…"/>
            <p:cNvSpPr txBox="1"/>
            <p:nvPr/>
          </p:nvSpPr>
          <p:spPr>
            <a:xfrm>
              <a:off x="112656" y="185952"/>
              <a:ext cx="2921010" cy="739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Reachability Slicing:</a:t>
              </a:r>
            </a:p>
            <a:p>
              <a:pPr>
                <a:defRPr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 Call-graphs prove if crypto is actually reachable in production</a:t>
              </a:r>
            </a:p>
          </p:txBody>
        </p:sp>
      </p:grpSp>
      <p:grpSp>
        <p:nvGrpSpPr>
          <p:cNvPr id="174" name="Rectangle: Rounded Corners 17"/>
          <p:cNvGrpSpPr/>
          <p:nvPr/>
        </p:nvGrpSpPr>
        <p:grpSpPr>
          <a:xfrm>
            <a:off x="4677039" y="5053781"/>
            <a:ext cx="3146322" cy="1111046"/>
            <a:chOff x="0" y="0"/>
            <a:chExt cx="3146321" cy="1111044"/>
          </a:xfrm>
        </p:grpSpPr>
        <p:sp>
          <p:nvSpPr>
            <p:cNvPr id="172" name="Rounded Rectangle"/>
            <p:cNvSpPr/>
            <p:nvPr/>
          </p:nvSpPr>
          <p:spPr>
            <a:xfrm>
              <a:off x="0" y="0"/>
              <a:ext cx="3146322" cy="1111045"/>
            </a:xfrm>
            <a:prstGeom prst="roundRect">
              <a:avLst>
                <a:gd name="adj" fmla="val 16667"/>
              </a:avLst>
            </a:prstGeom>
            <a:solidFill>
              <a:srgbClr val="17375E"/>
            </a:solidFill>
            <a:ln w="25400" cap="flat">
              <a:solidFill>
                <a:srgbClr val="21365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ct val="139925"/>
                </a:lnSpc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3" name="Incremental Scanning:…"/>
            <p:cNvSpPr txBox="1"/>
            <p:nvPr/>
          </p:nvSpPr>
          <p:spPr>
            <a:xfrm>
              <a:off x="112656" y="99754"/>
              <a:ext cx="2921010" cy="911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lnSpc>
                  <a:spcPct val="139925"/>
                </a:lnSpc>
                <a:defRPr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Incremental Scanning:</a:t>
              </a:r>
              <a:r>
                <a:rPr b="0"/>
                <a:t> </a:t>
              </a:r>
            </a:p>
            <a:p>
              <a:pPr>
                <a:lnSpc>
                  <a:spcPct val="139925"/>
                </a:lnSpc>
                <a:defRPr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Uses delta-caching and content hashing.</a:t>
              </a:r>
            </a:p>
          </p:txBody>
        </p:sp>
      </p:grpSp>
      <p:grpSp>
        <p:nvGrpSpPr>
          <p:cNvPr id="177" name="Rectangle: Rounded Corners 19"/>
          <p:cNvGrpSpPr/>
          <p:nvPr/>
        </p:nvGrpSpPr>
        <p:grpSpPr>
          <a:xfrm>
            <a:off x="8569428" y="5047816"/>
            <a:ext cx="3146322" cy="1111046"/>
            <a:chOff x="0" y="0"/>
            <a:chExt cx="3146321" cy="1111044"/>
          </a:xfrm>
        </p:grpSpPr>
        <p:sp>
          <p:nvSpPr>
            <p:cNvPr id="175" name="Rounded Rectangle"/>
            <p:cNvSpPr/>
            <p:nvPr/>
          </p:nvSpPr>
          <p:spPr>
            <a:xfrm>
              <a:off x="0" y="0"/>
              <a:ext cx="3146322" cy="1111045"/>
            </a:xfrm>
            <a:prstGeom prst="roundRect">
              <a:avLst>
                <a:gd name="adj" fmla="val 16667"/>
              </a:avLst>
            </a:prstGeom>
            <a:solidFill>
              <a:srgbClr val="17375E"/>
            </a:solidFill>
            <a:ln w="25400" cap="flat">
              <a:solidFill>
                <a:srgbClr val="21365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6" name="Guarded Refactoring:…"/>
            <p:cNvSpPr txBox="1"/>
            <p:nvPr/>
          </p:nvSpPr>
          <p:spPr>
            <a:xfrm>
              <a:off x="112656" y="85567"/>
              <a:ext cx="2921010" cy="939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Guarded Refactoring:</a:t>
              </a:r>
              <a:r>
                <a:rPr b="0"/>
                <a:t> </a:t>
              </a:r>
            </a:p>
            <a:p>
              <a:pPr algn="ctr">
                <a:defRPr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Patch → Compile → Test → Human Approval loop.</a:t>
              </a:r>
            </a:p>
          </p:txBody>
        </p:sp>
      </p:grpSp>
      <p:sp>
        <p:nvSpPr>
          <p:cNvPr id="178" name="Arrow"/>
          <p:cNvSpPr/>
          <p:nvPr/>
        </p:nvSpPr>
        <p:spPr>
          <a:xfrm>
            <a:off x="4101594" y="5370384"/>
            <a:ext cx="404823" cy="477839"/>
          </a:xfrm>
          <a:prstGeom prst="rightArrow">
            <a:avLst>
              <a:gd name="adj1" fmla="val 32000"/>
              <a:gd name="adj2" fmla="val 75543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/>
          </a:p>
        </p:txBody>
      </p:sp>
      <p:sp>
        <p:nvSpPr>
          <p:cNvPr id="179" name="Arrow"/>
          <p:cNvSpPr/>
          <p:nvPr/>
        </p:nvSpPr>
        <p:spPr>
          <a:xfrm>
            <a:off x="7993983" y="5364419"/>
            <a:ext cx="404823" cy="477839"/>
          </a:xfrm>
          <a:prstGeom prst="rightArrow">
            <a:avLst>
              <a:gd name="adj1" fmla="val 32000"/>
              <a:gd name="adj2" fmla="val 75543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43;p17"/>
          <p:cNvSpPr txBox="1"/>
          <p:nvPr/>
        </p:nvSpPr>
        <p:spPr>
          <a:xfrm>
            <a:off x="4693925" y="6404315"/>
            <a:ext cx="3112550" cy="26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pPr/>
            <a:r>
              <a:t>@TEKATHON-3.0- Template</a:t>
            </a:r>
          </a:p>
        </p:txBody>
      </p:sp>
      <p:sp>
        <p:nvSpPr>
          <p:cNvPr id="182" name="Google Shape;145;p17"/>
          <p:cNvSpPr txBox="1"/>
          <p:nvPr/>
        </p:nvSpPr>
        <p:spPr>
          <a:xfrm>
            <a:off x="4693925" y="6404303"/>
            <a:ext cx="3112550" cy="26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pPr/>
            <a:r>
              <a:t>@TEKATHON-4.0- Template</a:t>
            </a:r>
          </a:p>
        </p:txBody>
      </p:sp>
      <p:sp>
        <p:nvSpPr>
          <p:cNvPr id="183" name="Google Shape;139;p17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02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800">
                <a:solidFill>
                  <a:srgbClr val="953734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4" name="Google Shape;140;p1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IMPACT AND BENEFITS</a:t>
            </a:r>
          </a:p>
        </p:txBody>
      </p:sp>
      <p:sp>
        <p:nvSpPr>
          <p:cNvPr id="185" name="Google Shape;142;p17"/>
          <p:cNvSpPr txBox="1"/>
          <p:nvPr>
            <p:ph type="sldNum" sz="quarter" idx="2"/>
          </p:nvPr>
        </p:nvSpPr>
        <p:spPr>
          <a:xfrm>
            <a:off x="11393542" y="6404315"/>
            <a:ext cx="188858" cy="2692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86" name="Google Shape;143;p17"/>
          <p:cNvSpPr txBox="1"/>
          <p:nvPr/>
        </p:nvSpPr>
        <p:spPr>
          <a:xfrm>
            <a:off x="4693925" y="6404315"/>
            <a:ext cx="3112550" cy="26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pPr/>
            <a:r>
              <a:t>@TEKATHON-3.0- Template</a:t>
            </a:r>
          </a:p>
        </p:txBody>
      </p:sp>
      <p:sp>
        <p:nvSpPr>
          <p:cNvPr id="187" name="Google Shape;144;p17"/>
          <p:cNvSpPr/>
          <p:nvPr/>
        </p:nvSpPr>
        <p:spPr>
          <a:xfrm>
            <a:off x="0" y="6354762"/>
            <a:ext cx="12192000" cy="503101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800">
                <a:solidFill>
                  <a:srgbClr val="953734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88" name="crazy.pngGoogle Shape;146;p17" descr="crazy.pngGoogle Shape;146;p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77524" y="298623"/>
            <a:ext cx="1167751" cy="1025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SIH-Logo.pngGoogle Shape;147;p17" descr="SIH-Logo.pngGoogle Shape;147;p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7979" y="280890"/>
            <a:ext cx="1724026" cy="8763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2" name="Rectangle: Rounded Corners 2"/>
          <p:cNvGrpSpPr/>
          <p:nvPr/>
        </p:nvGrpSpPr>
        <p:grpSpPr>
          <a:xfrm>
            <a:off x="722228" y="1363163"/>
            <a:ext cx="5528759" cy="2387708"/>
            <a:chOff x="0" y="0"/>
            <a:chExt cx="5528758" cy="2387706"/>
          </a:xfrm>
        </p:grpSpPr>
        <p:sp>
          <p:nvSpPr>
            <p:cNvPr id="190" name="Rounded Rectangle"/>
            <p:cNvSpPr/>
            <p:nvPr/>
          </p:nvSpPr>
          <p:spPr>
            <a:xfrm>
              <a:off x="0" y="11175"/>
              <a:ext cx="5528759" cy="2365356"/>
            </a:xfrm>
            <a:prstGeom prst="roundRect">
              <a:avLst>
                <a:gd name="adj" fmla="val 16667"/>
              </a:avLst>
            </a:prstGeom>
            <a:solidFill>
              <a:srgbClr val="0F253F"/>
            </a:solidFill>
            <a:ln w="25400" cap="flat">
              <a:solidFill>
                <a:srgbClr val="21365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91" name="IMPACT…"/>
            <p:cNvSpPr txBox="1"/>
            <p:nvPr/>
          </p:nvSpPr>
          <p:spPr>
            <a:xfrm>
              <a:off x="178158" y="0"/>
              <a:ext cx="5172442" cy="23877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IMPACT</a:t>
              </a:r>
            </a:p>
            <a:p>
              <a:pPr algn="ctr">
                <a:defRPr b="1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  <a:p>
              <a:pPr>
                <a:defRPr sz="16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defRPr>
              </a:pPr>
              <a:r>
                <a:t>1. Government &amp; Defense (NTRO, CERT-In):</a:t>
              </a:r>
            </a:p>
            <a:p>
              <a:pPr>
                <a:defRPr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Provides deterministic sovereign posture management defending against nation-state data harvesting operations.</a:t>
              </a:r>
            </a:p>
            <a:p>
              <a:pPr>
                <a:defRPr b="1" sz="1600">
                  <a:solidFill>
                    <a:srgbClr val="FFFFFF"/>
                  </a:solidFill>
                </a:defRPr>
              </a:pPr>
              <a:r>
                <a:t>2. Critical Infrastructure (BFSI):</a:t>
              </a:r>
            </a:p>
            <a:p>
              <a:pPr>
                <a:defRPr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Secures power grids and banking by mapping downstream blast-radii before deprecating legacy keys.</a:t>
              </a:r>
            </a:p>
          </p:txBody>
        </p:sp>
      </p:grpSp>
      <p:grpSp>
        <p:nvGrpSpPr>
          <p:cNvPr id="195" name="Rectangle: Rounded Corners 4"/>
          <p:cNvGrpSpPr/>
          <p:nvPr/>
        </p:nvGrpSpPr>
        <p:grpSpPr>
          <a:xfrm>
            <a:off x="791241" y="3955888"/>
            <a:ext cx="5390733" cy="2343403"/>
            <a:chOff x="0" y="0"/>
            <a:chExt cx="5390732" cy="2343402"/>
          </a:xfrm>
        </p:grpSpPr>
        <p:sp>
          <p:nvSpPr>
            <p:cNvPr id="193" name="Rounded Rectangle"/>
            <p:cNvSpPr/>
            <p:nvPr/>
          </p:nvSpPr>
          <p:spPr>
            <a:xfrm>
              <a:off x="0" y="0"/>
              <a:ext cx="5390733" cy="2343403"/>
            </a:xfrm>
            <a:prstGeom prst="roundRect">
              <a:avLst>
                <a:gd name="adj" fmla="val 16667"/>
              </a:avLst>
            </a:prstGeom>
            <a:solidFill>
              <a:srgbClr val="0F253F"/>
            </a:solidFill>
            <a:ln w="25400" cap="flat">
              <a:solidFill>
                <a:srgbClr val="21365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</a:p>
          </p:txBody>
        </p:sp>
        <p:sp>
          <p:nvSpPr>
            <p:cNvPr id="194" name="BENEFITS…"/>
            <p:cNvSpPr txBox="1"/>
            <p:nvPr/>
          </p:nvSpPr>
          <p:spPr>
            <a:xfrm>
              <a:off x="175521" y="14296"/>
              <a:ext cx="5039690" cy="23148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r>
                <a:t>BENEFITS</a:t>
              </a:r>
            </a:p>
            <a:p>
              <a:pPr>
                <a:defRPr b="1" sz="16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defRPr>
              </a:pPr>
              <a:r>
                <a:t>1. Security: </a:t>
              </a:r>
              <a:r>
                <a:rPr b="0" sz="1400"/>
                <a:t>Deterministic defense against </a:t>
              </a:r>
              <a:r>
                <a:rPr b="0" i="1" sz="1400"/>
                <a:t>"Harvest Now, Decrypt Later."</a:t>
              </a:r>
            </a:p>
            <a:p>
              <a:pPr>
                <a:defRPr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defRPr>
              </a:pPr>
              <a:r>
                <a:t>2. </a:t>
              </a:r>
              <a:r>
                <a:rPr sz="1600"/>
                <a:t>Economic:</a:t>
              </a:r>
              <a:r>
                <a:rPr b="0" sz="1600"/>
                <a:t> </a:t>
              </a:r>
              <a:r>
                <a:rPr b="0"/>
                <a:t>Cuts multi-month audits to minutes of automation.</a:t>
              </a:r>
            </a:p>
            <a:p>
              <a:pPr>
                <a:defRPr b="1" sz="16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defRPr>
              </a:pPr>
              <a:r>
                <a:t>3. Operational:</a:t>
              </a:r>
              <a:r>
                <a:rPr b="0"/>
                <a:t> </a:t>
              </a:r>
              <a:r>
                <a:rPr b="0" sz="1400"/>
                <a:t>Instant, audit-ready CycloneDX compliance evidence.</a:t>
              </a:r>
            </a:p>
            <a:p>
              <a:pPr>
                <a:defRPr sz="16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198" name="Rectangle: Rounded Corners 6"/>
          <p:cNvGrpSpPr/>
          <p:nvPr/>
        </p:nvGrpSpPr>
        <p:grpSpPr>
          <a:xfrm>
            <a:off x="6524236" y="1385202"/>
            <a:ext cx="4579495" cy="4908256"/>
            <a:chOff x="0" y="0"/>
            <a:chExt cx="4579493" cy="4908255"/>
          </a:xfrm>
        </p:grpSpPr>
        <p:sp>
          <p:nvSpPr>
            <p:cNvPr id="196" name="Rounded Rectangle"/>
            <p:cNvSpPr/>
            <p:nvPr/>
          </p:nvSpPr>
          <p:spPr>
            <a:xfrm>
              <a:off x="0" y="0"/>
              <a:ext cx="4579494" cy="4908256"/>
            </a:xfrm>
            <a:prstGeom prst="roundRect">
              <a:avLst>
                <a:gd name="adj" fmla="val 16667"/>
              </a:avLst>
            </a:prstGeom>
            <a:solidFill>
              <a:srgbClr val="0F253F"/>
            </a:solidFill>
            <a:ln w="25400" cap="flat">
              <a:solidFill>
                <a:srgbClr val="21365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7" name="FOR INSTANCE : USER STORY…"/>
            <p:cNvSpPr txBox="1"/>
            <p:nvPr/>
          </p:nvSpPr>
          <p:spPr>
            <a:xfrm>
              <a:off x="284697" y="355621"/>
              <a:ext cx="4010099" cy="40618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800">
                  <a:solidFill>
                    <a:srgbClr val="FFFFFF"/>
                  </a:solidFill>
                </a:defRPr>
              </a:pPr>
              <a:r>
                <a:t>FOR INSTANCE : USER STORY</a:t>
              </a:r>
            </a:p>
            <a:p>
              <a:pPr algn="ctr">
                <a:defRPr b="1">
                  <a:solidFill>
                    <a:srgbClr val="FFFFFF"/>
                  </a:solidFill>
                </a:defRPr>
              </a:pPr>
              <a:r>
                <a:t>Scenario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t>A defence organization uses </a:t>
              </a:r>
              <a:r>
                <a:rPr b="1"/>
                <a:t>ECDAT</a:t>
              </a:r>
              <a:r>
                <a:t> in its secure, air-gapped network to find and track cryptography across its applications and systems. </a:t>
              </a:r>
            </a:p>
            <a:p>
              <a:pPr algn="ctr">
                <a:defRPr b="1">
                  <a:solidFill>
                    <a:srgbClr val="FFFFFF"/>
                  </a:solidFill>
                </a:defRPr>
              </a:pPr>
              <a:r>
                <a:t>Impact</a:t>
              </a:r>
            </a:p>
            <a:p>
              <a:pPr>
                <a:defRPr b="1">
                  <a:solidFill>
                    <a:srgbClr val="FFFFFF"/>
                  </a:solidFill>
                </a:defRPr>
              </a:pPr>
              <a:r>
                <a:t>Better Security:</a:t>
              </a:r>
              <a:r>
                <a:rPr b="0"/>
                <a:t> Quickly identifies outdated or risky cryptographic algorithms. </a:t>
              </a:r>
            </a:p>
            <a:p>
              <a:pPr>
                <a:defRPr b="1">
                  <a:solidFill>
                    <a:srgbClr val="FFFFFF"/>
                  </a:solidFill>
                </a:defRPr>
              </a:pPr>
              <a:r>
                <a:t>Clear Visibility:</a:t>
              </a:r>
              <a:r>
                <a:rPr b="0"/>
                <a:t> Shows where cryptography is being used and which systems depend on it. </a:t>
              </a:r>
            </a:p>
            <a:p>
              <a:pPr algn="ctr">
                <a:defRPr b="1">
                  <a:solidFill>
                    <a:srgbClr val="FFFFFF"/>
                  </a:solidFill>
                </a:defRPr>
              </a:pPr>
              <a:r>
                <a:t>Benefits</a:t>
              </a:r>
            </a:p>
            <a:p>
              <a:pPr>
                <a:defRPr b="1">
                  <a:solidFill>
                    <a:srgbClr val="FFFFFF"/>
                  </a:solidFill>
                </a:defRPr>
              </a:pPr>
              <a:r>
                <a:t>Quantum Ready:</a:t>
              </a:r>
              <a:r>
                <a:rPr b="0"/>
                <a:t> Helps prioritize systems that need safer, post-quantum algorithms. </a:t>
              </a:r>
            </a:p>
            <a:p>
              <a:pPr>
                <a:defRPr b="1">
                  <a:solidFill>
                    <a:srgbClr val="FFFFFF"/>
                  </a:solidFill>
                </a:defRPr>
              </a:pPr>
              <a:r>
                <a:t>Safer Updates:</a:t>
              </a:r>
              <a:r>
                <a:rPr b="0"/>
                <a:t> Supports controlled fixes without disrupting critical applications. </a:t>
              </a:r>
            </a:p>
            <a:p>
              <a:pPr>
                <a:defRPr b="1">
                  <a:solidFill>
                    <a:srgbClr val="FFFFFF"/>
                  </a:solidFill>
                </a:defRPr>
              </a:pPr>
              <a:r>
                <a:t>Easy Audits:</a:t>
              </a:r>
              <a:r>
                <a:rPr b="0"/>
                <a:t> Generates clear cryptographic inventory and compliance reports. 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157;p18"/>
          <p:cNvSpPr txBox="1"/>
          <p:nvPr/>
        </p:nvSpPr>
        <p:spPr>
          <a:xfrm>
            <a:off x="4693925" y="6404315"/>
            <a:ext cx="3112551" cy="26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pPr/>
            <a:r>
              <a:t>@TEKATHON-3.0- Template</a:t>
            </a:r>
          </a:p>
        </p:txBody>
      </p:sp>
      <p:sp>
        <p:nvSpPr>
          <p:cNvPr id="201" name="Google Shape;159;p18"/>
          <p:cNvSpPr txBox="1"/>
          <p:nvPr/>
        </p:nvSpPr>
        <p:spPr>
          <a:xfrm>
            <a:off x="4693925" y="6404303"/>
            <a:ext cx="3112551" cy="26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pPr/>
            <a:r>
              <a:t>@TEKATHON-4.0- Template</a:t>
            </a:r>
          </a:p>
        </p:txBody>
      </p:sp>
      <p:sp>
        <p:nvSpPr>
          <p:cNvPr id="202" name="Google Shape;153;p18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02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800">
                <a:solidFill>
                  <a:srgbClr val="953734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3" name="Google Shape;154;p18"/>
          <p:cNvSpPr txBox="1"/>
          <p:nvPr>
            <p:ph type="title"/>
          </p:nvPr>
        </p:nvSpPr>
        <p:spPr>
          <a:xfrm>
            <a:off x="763799" y="-27612"/>
            <a:ext cx="10972801" cy="1143001"/>
          </a:xfrm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RESEARCH  AND REFERENCES</a:t>
            </a:r>
          </a:p>
        </p:txBody>
      </p:sp>
      <p:sp>
        <p:nvSpPr>
          <p:cNvPr id="204" name="Google Shape;155;p18"/>
          <p:cNvSpPr txBox="1"/>
          <p:nvPr/>
        </p:nvSpPr>
        <p:spPr>
          <a:xfrm>
            <a:off x="1370467" y="1978367"/>
            <a:ext cx="9293750" cy="3513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/>
          <a:p>
            <a:pPr algn="ctr"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t>https://csrc.nist.gov/pubs/cswp/39/upd1/considerations-for-achieving-crypto-agility/final</a:t>
            </a:r>
          </a:p>
          <a:p>
            <a:pPr algn="ctr"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t>https://pages.nist.gov/nccoe-migration-post-quantum-cryptography/</a:t>
            </a:r>
          </a:p>
          <a:p>
            <a:pPr algn="ctr"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t>https://csrc.nist.gov/pubs/fips/203/final</a:t>
            </a:r>
          </a:p>
          <a:p>
            <a:pPr algn="ctr"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t>https://csrc.nist.gov/pubs/fips/204/final</a:t>
            </a:r>
          </a:p>
          <a:p>
            <a:pPr algn="ctr"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t>https://csrc.nist.gov/pubs/fips/205/final</a:t>
            </a:r>
          </a:p>
          <a:p>
            <a:pPr algn="ctr"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t>https://eprint.iacr.org/2015/1075</a:t>
            </a:r>
          </a:p>
          <a:p>
            <a:pPr algn="ctr"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t>https://cyclonedx.org/news/cyclonedx-v1.6-now-an-ecma-international-standard/</a:t>
            </a:r>
          </a:p>
          <a:p>
            <a:pPr algn="ctr"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t>https://ecma-international.org/wp-content/uploads/ECMA-424_1st_edition_june_2024.pdf</a:t>
            </a:r>
          </a:p>
          <a:p>
            <a:pPr algn="ctr"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t>https://www.etsi.org/deliver/etsi_tr/104000_104099/104016/01.01.01_60/tr_104016v010101p.pdf</a:t>
            </a:r>
          </a:p>
          <a:p>
            <a:pPr algn="ctr"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t>https://english.aivd.nl/documents/2024/12/3/the-pqc-migration-handbook</a:t>
            </a:r>
          </a:p>
          <a:p>
            <a:pPr algn="ctr"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t>https://www.nsa.gov/Cybersecurity/Post-Quantum-Cybersecurity-Resources/</a:t>
            </a:r>
          </a:p>
          <a:p>
            <a:pPr algn="ctr"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t>https://github.com/NationalSecurityAgency/ghidra</a:t>
            </a:r>
          </a:p>
        </p:txBody>
      </p:sp>
      <p:sp>
        <p:nvSpPr>
          <p:cNvPr id="205" name="Google Shape;156;p18"/>
          <p:cNvSpPr txBox="1"/>
          <p:nvPr>
            <p:ph type="sldNum" sz="quarter" idx="2"/>
          </p:nvPr>
        </p:nvSpPr>
        <p:spPr>
          <a:xfrm>
            <a:off x="11393542" y="6404315"/>
            <a:ext cx="188858" cy="2692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06" name="Google Shape;157;p18"/>
          <p:cNvSpPr txBox="1"/>
          <p:nvPr/>
        </p:nvSpPr>
        <p:spPr>
          <a:xfrm>
            <a:off x="4693925" y="6404315"/>
            <a:ext cx="3112551" cy="26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pPr/>
            <a:r>
              <a:t>@TEKATHON-3.0- Template</a:t>
            </a:r>
          </a:p>
        </p:txBody>
      </p:sp>
      <p:sp>
        <p:nvSpPr>
          <p:cNvPr id="207" name="Google Shape;158;p18"/>
          <p:cNvSpPr/>
          <p:nvPr/>
        </p:nvSpPr>
        <p:spPr>
          <a:xfrm>
            <a:off x="0" y="6354762"/>
            <a:ext cx="12192000" cy="503101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800">
                <a:solidFill>
                  <a:srgbClr val="953734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08" name="crazy.pngGoogle Shape;160;p18" descr="crazy.pngGoogle Shape;160;p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77524" y="298623"/>
            <a:ext cx="1167751" cy="1025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9" name="SIH-Logo.pngGoogle Shape;161;p18" descr="SIH-Logo.pngGoogle Shape;161;p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7979" y="280890"/>
            <a:ext cx="1724026" cy="876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