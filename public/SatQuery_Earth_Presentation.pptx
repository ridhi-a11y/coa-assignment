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978" autoAdjust="0"/>
  </p:normalViewPr>
  <p:slideViewPr>
    <p:cSldViewPr snapToGrid="0" snapToObjects="1">
      <p:cViewPr varScale="1">
        <p:scale>
          <a:sx n="103" d="100"/>
          <a:sy n="103" d="100"/>
        </p:scale>
        <p:origin x="87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16722DAB-C2D9-9A36-832D-7DA9BF991B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72" t="10377" r="2126" b="134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10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27432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Project Expo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48495" y="2743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Team Cognitrail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6400800" cy="3657600"/>
          </a:xfrm>
          <a:prstGeom prst="roundRect">
            <a:avLst>
              <a:gd name="adj" fmla="val 4000"/>
            </a:avLst>
          </a:prstGeom>
          <a:solidFill>
            <a:srgbClr val="050A1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566928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5600" b="1" i="0">
                <a:solidFill>
                  <a:srgbClr val="FFFFFF"/>
                </a:solidFill>
                <a:latin typeface="Segoe UI"/>
              </a:defRPr>
            </a:pPr>
            <a:r>
              <a:t>SatQuery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56692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800" b="0" i="1">
                <a:solidFill>
                  <a:srgbClr val="22D3EE"/>
                </a:solidFill>
                <a:latin typeface="Segoe UI"/>
              </a:defRPr>
            </a:pPr>
            <a:r>
              <a:t>Satellite Intelligence, Queried Clearly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94760"/>
            <a:ext cx="54864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 b="0" i="0">
                <a:solidFill>
                  <a:srgbClr val="94A3B8"/>
                </a:solidFill>
                <a:latin typeface="Segoe UI"/>
              </a:defRPr>
            </a:pPr>
            <a:r>
              <a:t>An interactive web application that brings satellite imagery</a:t>
            </a:r>
            <a:br/>
            <a:r>
              <a:t>exploration, natural-language querying, and evidence-transparent</a:t>
            </a:r>
            <a:br/>
            <a:r>
              <a:t>analysis into one workspace.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46320"/>
            <a:ext cx="54864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 i="0">
                <a:solidFill>
                  <a:srgbClr val="38BDF8"/>
                </a:solidFill>
                <a:latin typeface="Segoe UI"/>
              </a:defRPr>
            </a:pPr>
            <a:r>
              <a:t>Krishiv   |   Srujan   |   Bhavna   |   Ridhi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0" y="6492240"/>
            <a:ext cx="12191695" cy="365760"/>
          </a:xfrm>
          <a:prstGeom prst="roundRect">
            <a:avLst>
              <a:gd name="adj" fmla="val 4000"/>
            </a:avLst>
          </a:prstGeom>
          <a:solidFill>
            <a:srgbClr val="03051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6473952"/>
            <a:ext cx="12191695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750" b="1" i="0">
                <a:solidFill>
                  <a:srgbClr val="94A3B8"/>
                </a:solidFill>
                <a:latin typeface="Segoe UI"/>
              </a:defRPr>
            </a:pPr>
            <a:r>
              <a:t>SatQuery  |  Project Expo  |  Team Cognitrail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537960"/>
            <a:ext cx="393192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750" b="0" i="1">
                <a:solidFill>
                  <a:srgbClr val="22D3EE"/>
                </a:solidFill>
                <a:latin typeface="Segoe UI"/>
              </a:defRPr>
            </a:pPr>
            <a:r>
              <a:t>Satellite Intelligence, Queried Clearly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537960"/>
            <a:ext cx="109728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94A3B8"/>
                </a:solidFill>
                <a:latin typeface="Segoe UI"/>
              </a:defRPr>
            </a:pPr>
            <a: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tellite_terr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10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800" b="1" i="0">
                <a:solidFill>
                  <a:srgbClr val="22D3EE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49808"/>
            <a:ext cx="22860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0584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 b="0" i="1">
                <a:solidFill>
                  <a:srgbClr val="94A3B8"/>
                </a:solidFill>
                <a:latin typeface="Segoe UI"/>
              </a:defRPr>
            </a:pPr>
            <a:r>
              <a:t>Satellite data is powerful -- but using it takes expertise and many tools.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520440" cy="3474720"/>
          </a:xfrm>
          <a:prstGeom prst="roundRect">
            <a:avLst>
              <a:gd name="adj" fmla="val 4000"/>
            </a:avLst>
          </a:prstGeom>
          <a:solidFill>
            <a:srgbClr val="050A18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0352" y="1408176"/>
            <a:ext cx="3374136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554480"/>
            <a:ext cx="324612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1" i="0">
                <a:solidFill>
                  <a:srgbClr val="F43F5E"/>
                </a:solidFill>
                <a:latin typeface="Segoe UI"/>
              </a:defRPr>
            </a:pPr>
            <a:r>
              <a:t>Finding Usable Imagery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65960"/>
            <a:ext cx="3246120" cy="2560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50" b="0">
                <a:solidFill>
                  <a:srgbClr val="94A3B8"/>
                </a:solidFill>
                <a:latin typeface="Segoe UI"/>
              </a:defRPr>
            </a:pPr>
            <a:r>
              <a:rPr sz="1200" dirty="0">
                <a:solidFill>
                  <a:schemeClr val="bg1"/>
                </a:solidFill>
              </a:rPr>
              <a:t>Satellites may not have captured an image on the exact date requested.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400" b="0">
                <a:solidFill>
                  <a:srgbClr val="FFFFFF"/>
                </a:solidFill>
                <a:latin typeface="Segoe UI"/>
              </a:defRPr>
            </a:pPr>
            <a:endParaRPr sz="800" dirty="0">
              <a:solidFill>
                <a:schemeClr val="bg1"/>
              </a:solidFill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200" dirty="0">
                <a:solidFill>
                  <a:schemeClr val="bg1"/>
                </a:solidFill>
              </a:rPr>
              <a:t>No image for the exact date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200" dirty="0">
                <a:solidFill>
                  <a:schemeClr val="bg1"/>
                </a:solidFill>
              </a:rPr>
              <a:t>Clouds &amp; shadows block the view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200" dirty="0">
                <a:solidFill>
                  <a:schemeClr val="bg1"/>
                </a:solidFill>
              </a:rPr>
              <a:t>Different dates = different extents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200" dirty="0">
                <a:solidFill>
                  <a:schemeClr val="bg1"/>
                </a:solidFill>
              </a:rPr>
              <a:t>Small previews get blurry when enlarged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78808" y="1371600"/>
            <a:ext cx="3520440" cy="3474720"/>
          </a:xfrm>
          <a:prstGeom prst="roundRect">
            <a:avLst>
              <a:gd name="adj" fmla="val 4000"/>
            </a:avLst>
          </a:prstGeom>
          <a:solidFill>
            <a:srgbClr val="050A18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51960" y="1408176"/>
            <a:ext cx="3374136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15968" y="1554480"/>
            <a:ext cx="324612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1" i="0">
                <a:solidFill>
                  <a:srgbClr val="F59E0B"/>
                </a:solidFill>
                <a:latin typeface="Segoe UI"/>
              </a:defRPr>
            </a:pPr>
            <a:r>
              <a:t>Comparing Over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1965960"/>
            <a:ext cx="3246120" cy="2560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50" b="0">
                <a:solidFill>
                  <a:srgbClr val="94A3B8"/>
                </a:solidFill>
                <a:latin typeface="Segoe UI"/>
              </a:defRPr>
            </a:pPr>
            <a:r>
              <a:rPr sz="1200" dirty="0">
                <a:solidFill>
                  <a:schemeClr val="bg1"/>
                </a:solidFill>
              </a:rPr>
              <a:t>Comparing images across dates requires aligning projections, resolutions, and display settings.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400" b="0">
                <a:solidFill>
                  <a:srgbClr val="FFFFFF"/>
                </a:solidFill>
                <a:latin typeface="Segoe UI"/>
              </a:defRPr>
            </a:pPr>
            <a:endParaRPr sz="800" dirty="0">
              <a:solidFill>
                <a:schemeClr val="bg1"/>
              </a:solidFill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200" dirty="0">
                <a:solidFill>
                  <a:schemeClr val="bg1"/>
                </a:solidFill>
              </a:rPr>
              <a:t>Manual co-registration needed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200" dirty="0">
                <a:solidFill>
                  <a:schemeClr val="bg1"/>
                </a:solidFill>
              </a:rPr>
              <a:t>Resolution mismatches between dates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200" dirty="0">
                <a:solidFill>
                  <a:schemeClr val="bg1"/>
                </a:solidFill>
              </a:rPr>
              <a:t>No unified comparison workspace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200" dirty="0">
                <a:solidFill>
                  <a:schemeClr val="bg1"/>
                </a:solidFill>
              </a:rPr>
              <a:t>Causes of change are hard to identify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0416" y="1371600"/>
            <a:ext cx="3520440" cy="3474720"/>
          </a:xfrm>
          <a:prstGeom prst="roundRect">
            <a:avLst>
              <a:gd name="adj" fmla="val 4000"/>
            </a:avLst>
          </a:prstGeom>
          <a:solidFill>
            <a:srgbClr val="050A18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73568" y="1408176"/>
            <a:ext cx="3374136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37576" y="1554480"/>
            <a:ext cx="324612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1" i="0">
                <a:solidFill>
                  <a:srgbClr val="8B5CF6"/>
                </a:solidFill>
                <a:latin typeface="Segoe UI"/>
              </a:defRPr>
            </a:pPr>
            <a:r>
              <a:t>Trusting AI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7576" y="1965960"/>
            <a:ext cx="3246120" cy="2560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50" b="0">
                <a:solidFill>
                  <a:srgbClr val="94A3B8"/>
                </a:solidFill>
                <a:latin typeface="Segoe UI"/>
              </a:defRPr>
            </a:pPr>
            <a:r>
              <a:rPr sz="1200" dirty="0">
                <a:solidFill>
                  <a:schemeClr val="bg1"/>
                </a:solidFill>
              </a:rPr>
              <a:t>AI explanations can sound convincing without enough supporting evidence behind them.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400" b="0">
                <a:solidFill>
                  <a:srgbClr val="FFFFFF"/>
                </a:solidFill>
                <a:latin typeface="Segoe UI"/>
              </a:defRPr>
            </a:pPr>
            <a:endParaRPr sz="800" dirty="0">
              <a:solidFill>
                <a:schemeClr val="bg1"/>
              </a:solidFill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200" dirty="0">
                <a:solidFill>
                  <a:schemeClr val="bg1"/>
                </a:solidFill>
              </a:rPr>
              <a:t>Explanations lack traceability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200" dirty="0">
                <a:solidFill>
                  <a:schemeClr val="bg1"/>
                </a:solidFill>
              </a:rPr>
              <a:t>Source imagery not visible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200" dirty="0">
                <a:solidFill>
                  <a:schemeClr val="bg1"/>
                </a:solidFill>
              </a:rPr>
              <a:t>Users cannot verify claims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200" dirty="0">
                <a:solidFill>
                  <a:schemeClr val="bg1"/>
                </a:solidFill>
              </a:rPr>
              <a:t>Black-box answers erode trust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029200"/>
            <a:ext cx="11247120" cy="640080"/>
          </a:xfrm>
          <a:prstGeom prst="roundRect">
            <a:avLst>
              <a:gd name="adj" fmla="val 4000"/>
            </a:avLst>
          </a:prstGeom>
          <a:solidFill>
            <a:srgbClr val="050A18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5120640"/>
            <a:ext cx="1088136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200" b="1" i="0">
                <a:solidFill>
                  <a:srgbClr val="22D3EE"/>
                </a:solidFill>
                <a:latin typeface="Segoe UI"/>
              </a:defRPr>
            </a:pPr>
            <a:r>
              <a:rPr i="1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SatQuery</a:t>
            </a:r>
            <a:r>
              <a:rPr i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bridges this gap: from geographic question to inspectable satellite evidence.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0" y="6492240"/>
            <a:ext cx="12191695" cy="365760"/>
          </a:xfrm>
          <a:prstGeom prst="roundRect">
            <a:avLst>
              <a:gd name="adj" fmla="val 4000"/>
            </a:avLst>
          </a:prstGeom>
          <a:solidFill>
            <a:srgbClr val="03051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6473952"/>
            <a:ext cx="12191695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750" b="1" i="0">
                <a:solidFill>
                  <a:srgbClr val="94A3B8"/>
                </a:solidFill>
                <a:latin typeface="Segoe UI"/>
              </a:defRPr>
            </a:pPr>
            <a:r>
              <a:t>SatQuery  |  Project Expo  |  Team Cognitrail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6537960"/>
            <a:ext cx="393192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750" b="0" i="1">
                <a:solidFill>
                  <a:srgbClr val="22D3EE"/>
                </a:solidFill>
                <a:latin typeface="Segoe UI"/>
              </a:defRPr>
            </a:pPr>
            <a:r>
              <a:t>Satellite Intelligence, Queried Clearly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537960"/>
            <a:ext cx="109728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94A3B8"/>
                </a:solidFill>
                <a:latin typeface="Segoe UI"/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tellite_orb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1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800" b="1" i="0">
                <a:solidFill>
                  <a:srgbClr val="22D3EE"/>
                </a:solidFill>
                <a:latin typeface="Segoe UI"/>
              </a:defRPr>
            </a:pPr>
            <a:r>
              <a:t>WHAT IS SATQUERY?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49808"/>
            <a:ext cx="22860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11247120" cy="822960"/>
          </a:xfrm>
          <a:prstGeom prst="roundRect">
            <a:avLst>
              <a:gd name="adj" fmla="val 4000"/>
            </a:avLst>
          </a:prstGeom>
          <a:solidFill>
            <a:srgbClr val="050A1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69848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 b="1" i="0">
                <a:solidFill>
                  <a:srgbClr val="FFFFFF"/>
                </a:solidFill>
                <a:latin typeface="Segoe UI"/>
              </a:defRPr>
            </a:pPr>
            <a:r>
              <a:t>A web application that helps users explore satellite imagery, ask questions about a location, and compare observations from different dates -- combining maps, a 3D Earth viewer, image tools, and AI explanations in one workspace.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03120"/>
            <a:ext cx="2606040" cy="3246120"/>
          </a:xfrm>
          <a:prstGeom prst="roundRect">
            <a:avLst>
              <a:gd name="adj" fmla="val 4000"/>
            </a:avLst>
          </a:prstGeom>
          <a:solidFill>
            <a:srgbClr val="050A18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12064" y="2139696"/>
            <a:ext cx="2496312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267712"/>
            <a:ext cx="242316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400" b="1" i="0">
                <a:solidFill>
                  <a:srgbClr val="0EA5E9"/>
                </a:solidFill>
                <a:latin typeface="Segoe UI"/>
              </a:defRPr>
            </a:pPr>
            <a:r>
              <a:t>Search &amp; Select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743200"/>
            <a:ext cx="2386584" cy="2514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050" dirty="0">
                <a:solidFill>
                  <a:schemeClr val="bg1"/>
                </a:solidFill>
              </a:rPr>
              <a:t>  Search for any place on Earth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050" dirty="0">
                <a:solidFill>
                  <a:schemeClr val="bg1"/>
                </a:solidFill>
              </a:rPr>
              <a:t>  Enter coordinates or click the map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050" dirty="0">
                <a:solidFill>
                  <a:schemeClr val="bg1"/>
                </a:solidFill>
              </a:rPr>
              <a:t>  Choose area size to inspect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050" dirty="0">
                <a:solidFill>
                  <a:schemeClr val="bg1"/>
                </a:solidFill>
              </a:rPr>
              <a:t>  Pick dates or date ranges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050" dirty="0">
                <a:solidFill>
                  <a:schemeClr val="bg1"/>
                </a:solidFill>
              </a:rPr>
              <a:t>  Tolerance search for nearby dates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2103120"/>
            <a:ext cx="2606040" cy="3246120"/>
          </a:xfrm>
          <a:prstGeom prst="roundRect">
            <a:avLst>
              <a:gd name="adj" fmla="val 4000"/>
            </a:avLst>
          </a:prstGeom>
          <a:solidFill>
            <a:srgbClr val="050A18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82696" y="2139696"/>
            <a:ext cx="2496312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19272" y="2267712"/>
            <a:ext cx="242316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400" b="1" i="0">
                <a:solidFill>
                  <a:srgbClr val="14B8A6"/>
                </a:solidFill>
                <a:latin typeface="Segoe UI"/>
              </a:defRPr>
            </a:pPr>
            <a:r>
              <a:t>Retrieve &amp; Prepare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743200"/>
            <a:ext cx="2386584" cy="2514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050" dirty="0">
                <a:solidFill>
                  <a:schemeClr val="bg1"/>
                </a:solidFill>
              </a:rPr>
              <a:t>  Find observations via STAC</a:t>
            </a:r>
            <a:r>
              <a:rPr lang="en-IN" sz="1050" dirty="0">
                <a:solidFill>
                  <a:schemeClr val="bg1"/>
                </a:solidFill>
              </a:rPr>
              <a:t> </a:t>
            </a:r>
            <a:r>
              <a:rPr sz="1050" dirty="0">
                <a:solidFill>
                  <a:schemeClr val="bg1"/>
                </a:solidFill>
              </a:rPr>
              <a:t>catalog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050" dirty="0">
                <a:solidFill>
                  <a:schemeClr val="bg1"/>
                </a:solidFill>
              </a:rPr>
              <a:t>  Sentinel-2 optical imagery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050" dirty="0">
                <a:solidFill>
                  <a:schemeClr val="bg1"/>
                </a:solidFill>
              </a:rPr>
              <a:t>  Sentinel-1 radar assets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050" dirty="0">
                <a:solidFill>
                  <a:schemeClr val="bg1"/>
                </a:solidFill>
              </a:rPr>
              <a:t>  Cloud/shadow pixel exclusion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050" dirty="0">
                <a:solidFill>
                  <a:schemeClr val="bg1"/>
                </a:solidFill>
              </a:rPr>
              <a:t>  Aligned images for comparison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98464" y="2103120"/>
            <a:ext cx="2606040" cy="3246120"/>
          </a:xfrm>
          <a:prstGeom prst="roundRect">
            <a:avLst>
              <a:gd name="adj" fmla="val 4000"/>
            </a:avLst>
          </a:prstGeom>
          <a:solidFill>
            <a:srgbClr val="050A18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53328" y="2139696"/>
            <a:ext cx="2496312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89904" y="2267712"/>
            <a:ext cx="242316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400" b="1" i="0">
                <a:solidFill>
                  <a:srgbClr val="8B5CF6"/>
                </a:solidFill>
                <a:latin typeface="Segoe UI"/>
              </a:defRPr>
            </a:pPr>
            <a:r>
              <a:t>Analyze &amp; Explain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08192" y="2743200"/>
            <a:ext cx="2386584" cy="2514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050" dirty="0">
                <a:solidFill>
                  <a:schemeClr val="bg1"/>
                </a:solidFill>
              </a:rPr>
              <a:t>  Ask questions in plain English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050" dirty="0">
                <a:solidFill>
                  <a:schemeClr val="bg1"/>
                </a:solidFill>
              </a:rPr>
              <a:t>  Gemini &amp; </a:t>
            </a:r>
            <a:r>
              <a:rPr sz="1050" dirty="0" err="1">
                <a:solidFill>
                  <a:schemeClr val="bg1"/>
                </a:solidFill>
              </a:rPr>
              <a:t>GeoChat</a:t>
            </a:r>
            <a:r>
              <a:rPr sz="1050" dirty="0">
                <a:solidFill>
                  <a:schemeClr val="bg1"/>
                </a:solidFill>
              </a:rPr>
              <a:t> AI adapters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050" dirty="0">
                <a:solidFill>
                  <a:schemeClr val="bg1"/>
                </a:solidFill>
              </a:rPr>
              <a:t>  Water-change screening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050" dirty="0">
                <a:solidFill>
                  <a:schemeClr val="bg1"/>
                </a:solidFill>
              </a:rPr>
              <a:t>  Spectral classification data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050" dirty="0">
                <a:solidFill>
                  <a:schemeClr val="bg1"/>
                </a:solidFill>
              </a:rPr>
              <a:t>  Explanations linked to evidence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69096" y="2103120"/>
            <a:ext cx="2606040" cy="3246120"/>
          </a:xfrm>
          <a:prstGeom prst="roundRect">
            <a:avLst>
              <a:gd name="adj" fmla="val 4000"/>
            </a:avLst>
          </a:prstGeom>
          <a:solidFill>
            <a:srgbClr val="050A18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823960" y="2139696"/>
            <a:ext cx="249631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0536" y="2267712"/>
            <a:ext cx="242316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400" b="1" i="0">
                <a:solidFill>
                  <a:srgbClr val="F59E0B"/>
                </a:solidFill>
                <a:latin typeface="Segoe UI"/>
              </a:defRPr>
            </a:pPr>
            <a:r>
              <a:t>Inspect &amp; Export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2743200"/>
            <a:ext cx="2386584" cy="2514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050" dirty="0">
                <a:solidFill>
                  <a:schemeClr val="bg1"/>
                </a:solidFill>
              </a:rPr>
              <a:t>  Native-pixel image viewer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050" dirty="0">
                <a:solidFill>
                  <a:schemeClr val="bg1"/>
                </a:solidFill>
              </a:rPr>
              <a:t>  Zoom, pan, brightness controls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050" dirty="0">
                <a:solidFill>
                  <a:schemeClr val="bg1"/>
                </a:solidFill>
              </a:rPr>
              <a:t>  Synchronized side-by-side compare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050" dirty="0">
                <a:solidFill>
                  <a:schemeClr val="bg1"/>
                </a:solidFill>
              </a:rPr>
              <a:t>  Markdown &amp; JSON reports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050" dirty="0">
                <a:solidFill>
                  <a:schemeClr val="bg1"/>
                </a:solidFill>
              </a:rPr>
              <a:t>  </a:t>
            </a:r>
            <a:r>
              <a:rPr sz="1050" dirty="0" err="1">
                <a:solidFill>
                  <a:schemeClr val="bg1"/>
                </a:solidFill>
              </a:rPr>
              <a:t>GeoJSON</a:t>
            </a:r>
            <a:r>
              <a:rPr sz="1050" dirty="0">
                <a:solidFill>
                  <a:schemeClr val="bg1"/>
                </a:solidFill>
              </a:rPr>
              <a:t> change polygons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0" y="6492240"/>
            <a:ext cx="12191695" cy="365760"/>
          </a:xfrm>
          <a:prstGeom prst="roundRect">
            <a:avLst>
              <a:gd name="adj" fmla="val 4000"/>
            </a:avLst>
          </a:prstGeom>
          <a:solidFill>
            <a:srgbClr val="03051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6473952"/>
            <a:ext cx="12191695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750" b="1" i="0">
                <a:solidFill>
                  <a:srgbClr val="94A3B8"/>
                </a:solidFill>
                <a:latin typeface="Segoe UI"/>
              </a:defRPr>
            </a:pPr>
            <a:r>
              <a:t>SatQuery  |  Project Expo  |  Team Cognitrail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6537960"/>
            <a:ext cx="393192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750" b="0" i="1">
                <a:solidFill>
                  <a:srgbClr val="22D3EE"/>
                </a:solidFill>
                <a:latin typeface="Segoe UI"/>
              </a:defRPr>
            </a:pPr>
            <a:r>
              <a:t>Satellite Intelligence, Queried Clearly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20095" y="6537960"/>
            <a:ext cx="109728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94A3B8"/>
                </a:solidFill>
                <a:latin typeface="Segoe UI"/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lean_coastl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1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800" b="1" i="0">
                <a:solidFill>
                  <a:srgbClr val="22D3EE"/>
                </a:solidFill>
                <a:latin typeface="Segoe UI"/>
              </a:defRPr>
            </a:pPr>
            <a:r>
              <a:t>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85800"/>
            <a:ext cx="22860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960120"/>
            <a:ext cx="2697480" cy="1600200"/>
          </a:xfrm>
          <a:prstGeom prst="roundRect">
            <a:avLst>
              <a:gd name="adj" fmla="val 4000"/>
            </a:avLst>
          </a:prstGeom>
          <a:solidFill>
            <a:srgbClr val="050A1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12064" y="996696"/>
            <a:ext cx="2587752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106424"/>
            <a:ext cx="2478024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 i="0">
                <a:solidFill>
                  <a:srgbClr val="0EA5E9"/>
                </a:solidFill>
                <a:latin typeface="Segoe UI"/>
              </a:defRPr>
            </a:pPr>
            <a:r>
              <a:t>Interactive Globe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463040"/>
            <a:ext cx="2478024" cy="868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950" b="0" i="0">
                <a:solidFill>
                  <a:srgbClr val="94A3B8"/>
                </a:solidFill>
                <a:latin typeface="Segoe UI"/>
              </a:defRPr>
            </a:pPr>
            <a:r>
              <a:rPr sz="1100" dirty="0" err="1">
                <a:solidFill>
                  <a:schemeClr val="bg1"/>
                </a:solidFill>
              </a:rPr>
              <a:t>CesiumJS</a:t>
            </a:r>
            <a:r>
              <a:rPr sz="1100" dirty="0">
                <a:solidFill>
                  <a:schemeClr val="bg1"/>
                </a:solidFill>
              </a:rPr>
              <a:t> 3D Earth viewer with</a:t>
            </a:r>
            <a:br>
              <a:rPr sz="1100" dirty="0">
                <a:solidFill>
                  <a:schemeClr val="bg1"/>
                </a:solidFill>
              </a:rPr>
            </a:br>
            <a:r>
              <a:rPr sz="1100" dirty="0">
                <a:solidFill>
                  <a:schemeClr val="bg1"/>
                </a:solidFill>
              </a:rPr>
              <a:t>rotation, zoom &amp; evidence overlays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9272" y="960120"/>
            <a:ext cx="2697480" cy="1600200"/>
          </a:xfrm>
          <a:prstGeom prst="roundRect">
            <a:avLst>
              <a:gd name="adj" fmla="val 4000"/>
            </a:avLst>
          </a:prstGeom>
          <a:solidFill>
            <a:srgbClr val="050A1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74136" y="996696"/>
            <a:ext cx="2587752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29000" y="1106424"/>
            <a:ext cx="2478024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 i="0">
                <a:solidFill>
                  <a:srgbClr val="14B8A6"/>
                </a:solidFill>
                <a:latin typeface="Segoe UI"/>
              </a:defRPr>
            </a:pPr>
            <a:r>
              <a:t>Natural Language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463040"/>
            <a:ext cx="2478024" cy="868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950" b="0" i="0">
                <a:solidFill>
                  <a:srgbClr val="94A3B8"/>
                </a:solidFill>
                <a:latin typeface="Segoe UI"/>
              </a:defRPr>
            </a:pPr>
            <a:r>
              <a:rPr sz="1100">
                <a:solidFill>
                  <a:schemeClr val="bg1"/>
                </a:solidFill>
              </a:rPr>
              <a:t>Ask questions like "What changed?"</a:t>
            </a:r>
            <a:br>
              <a:rPr sz="1100">
                <a:solidFill>
                  <a:schemeClr val="bg1"/>
                </a:solidFill>
              </a:rPr>
            </a:br>
            <a:r>
              <a:rPr sz="1100">
                <a:solidFill>
                  <a:schemeClr val="bg1"/>
                </a:solidFill>
              </a:rPr>
              <a:t>and get traceable AI explanations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960120"/>
            <a:ext cx="2697480" cy="1600200"/>
          </a:xfrm>
          <a:prstGeom prst="roundRect">
            <a:avLst>
              <a:gd name="adj" fmla="val 4000"/>
            </a:avLst>
          </a:prstGeom>
          <a:solidFill>
            <a:srgbClr val="050A1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36208" y="996696"/>
            <a:ext cx="25877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91072" y="1106424"/>
            <a:ext cx="2478024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 i="0">
                <a:solidFill>
                  <a:srgbClr val="F59E0B"/>
                </a:solidFill>
                <a:latin typeface="Segoe UI"/>
              </a:defRPr>
            </a:pPr>
            <a:r>
              <a:t>Change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1463040"/>
            <a:ext cx="2478024" cy="868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950" b="0" i="0">
                <a:solidFill>
                  <a:srgbClr val="94A3B8"/>
                </a:solidFill>
                <a:latin typeface="Segoe UI"/>
              </a:defRPr>
            </a:pPr>
            <a:r>
              <a:rPr sz="1100">
                <a:solidFill>
                  <a:schemeClr val="bg1"/>
                </a:solidFill>
              </a:rPr>
              <a:t>Bi-temporal comparison with</a:t>
            </a:r>
            <a:br>
              <a:rPr sz="1100">
                <a:solidFill>
                  <a:schemeClr val="bg1"/>
                </a:solidFill>
              </a:rPr>
            </a:br>
            <a:r>
              <a:rPr sz="1100">
                <a:solidFill>
                  <a:schemeClr val="bg1"/>
                </a:solidFill>
              </a:rPr>
              <a:t>water-change screening &amp; GeoJSON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43416" y="960120"/>
            <a:ext cx="2697480" cy="1600200"/>
          </a:xfrm>
          <a:prstGeom prst="roundRect">
            <a:avLst>
              <a:gd name="adj" fmla="val 4000"/>
            </a:avLst>
          </a:prstGeom>
          <a:solidFill>
            <a:srgbClr val="050A1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98280" y="996696"/>
            <a:ext cx="2587752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53144" y="1106424"/>
            <a:ext cx="2478024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 i="0">
                <a:solidFill>
                  <a:srgbClr val="8B5CF6"/>
                </a:solidFill>
                <a:latin typeface="Segoe UI"/>
              </a:defRPr>
            </a:pPr>
            <a:r>
              <a:t>Gesture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3144" y="1463040"/>
            <a:ext cx="2478024" cy="868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950" b="0" i="0">
                <a:solidFill>
                  <a:srgbClr val="94A3B8"/>
                </a:solidFill>
                <a:latin typeface="Segoe UI"/>
              </a:defRPr>
            </a:pPr>
            <a:r>
              <a:rPr sz="1100">
                <a:solidFill>
                  <a:schemeClr val="bg1"/>
                </a:solidFill>
              </a:rPr>
              <a:t>MediaPipe hand-tracking to</a:t>
            </a:r>
            <a:br>
              <a:rPr sz="1100">
                <a:solidFill>
                  <a:schemeClr val="bg1"/>
                </a:solidFill>
              </a:rPr>
            </a:br>
            <a:r>
              <a:rPr sz="1100">
                <a:solidFill>
                  <a:schemeClr val="bg1"/>
                </a:solidFill>
              </a:rPr>
              <a:t>rotate and zoom the globe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697480"/>
            <a:ext cx="2697480" cy="1600200"/>
          </a:xfrm>
          <a:prstGeom prst="roundRect">
            <a:avLst>
              <a:gd name="adj" fmla="val 4000"/>
            </a:avLst>
          </a:prstGeom>
          <a:solidFill>
            <a:srgbClr val="050A1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12064" y="2734056"/>
            <a:ext cx="2587752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2843784"/>
            <a:ext cx="2478024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 i="0">
                <a:solidFill>
                  <a:srgbClr val="22D3EE"/>
                </a:solidFill>
                <a:latin typeface="Segoe UI"/>
              </a:defRPr>
            </a:pPr>
            <a:r>
              <a:t>Evidence Trail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200400"/>
            <a:ext cx="2478024" cy="868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950" b="0" i="0">
                <a:solidFill>
                  <a:srgbClr val="94A3B8"/>
                </a:solidFill>
                <a:latin typeface="Segoe UI"/>
              </a:defRPr>
            </a:pPr>
            <a:r>
              <a:rPr sz="1100">
                <a:solidFill>
                  <a:schemeClr val="bg1"/>
                </a:solidFill>
              </a:rPr>
              <a:t>Every answer links to source</a:t>
            </a:r>
            <a:br>
              <a:rPr sz="1100">
                <a:solidFill>
                  <a:schemeClr val="bg1"/>
                </a:solidFill>
              </a:rPr>
            </a:br>
            <a:r>
              <a:rPr sz="1100">
                <a:solidFill>
                  <a:schemeClr val="bg1"/>
                </a:solidFill>
              </a:rPr>
              <a:t>pixels, scene IDs &amp; content hashes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19272" y="2697480"/>
            <a:ext cx="2697480" cy="1600200"/>
          </a:xfrm>
          <a:prstGeom prst="roundRect">
            <a:avLst>
              <a:gd name="adj" fmla="val 4000"/>
            </a:avLst>
          </a:prstGeom>
          <a:solidFill>
            <a:srgbClr val="050A1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374136" y="2734056"/>
            <a:ext cx="2587752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29000" y="2843784"/>
            <a:ext cx="2478024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 i="0">
                <a:solidFill>
                  <a:srgbClr val="22C55E"/>
                </a:solidFill>
                <a:latin typeface="Segoe UI"/>
              </a:defRPr>
            </a:pPr>
            <a:r>
              <a:t>Smart Image Viewer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3200400"/>
            <a:ext cx="2478024" cy="868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950" b="0" i="0">
                <a:solidFill>
                  <a:srgbClr val="94A3B8"/>
                </a:solidFill>
                <a:latin typeface="Segoe UI"/>
              </a:defRPr>
            </a:pPr>
            <a:r>
              <a:rPr sz="1100">
                <a:solidFill>
                  <a:schemeClr val="bg1"/>
                </a:solidFill>
              </a:rPr>
              <a:t>Native-pixel zoom, pan, fullscreen,</a:t>
            </a:r>
            <a:br>
              <a:rPr sz="1100">
                <a:solidFill>
                  <a:schemeClr val="bg1"/>
                </a:solidFill>
              </a:rPr>
            </a:br>
            <a:r>
              <a:rPr sz="1100">
                <a:solidFill>
                  <a:schemeClr val="bg1"/>
                </a:solidFill>
              </a:rPr>
              <a:t>brightness &amp; contrast controls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2697480"/>
            <a:ext cx="2697480" cy="1600200"/>
          </a:xfrm>
          <a:prstGeom prst="roundRect">
            <a:avLst>
              <a:gd name="adj" fmla="val 4000"/>
            </a:avLst>
          </a:prstGeom>
          <a:solidFill>
            <a:srgbClr val="050A1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36208" y="2734056"/>
            <a:ext cx="2587752" cy="36576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91072" y="2843784"/>
            <a:ext cx="2478024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 i="0">
                <a:solidFill>
                  <a:srgbClr val="FB923C"/>
                </a:solidFill>
                <a:latin typeface="Segoe UI"/>
              </a:defRPr>
            </a:pPr>
            <a:r>
              <a:t>Multi-Sensor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91072" y="3200400"/>
            <a:ext cx="2478024" cy="868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950" b="0" i="0">
                <a:solidFill>
                  <a:srgbClr val="94A3B8"/>
                </a:solidFill>
                <a:latin typeface="Segoe UI"/>
              </a:defRPr>
            </a:pPr>
            <a:r>
              <a:rPr sz="1100">
                <a:solidFill>
                  <a:schemeClr val="bg1"/>
                </a:solidFill>
              </a:rPr>
              <a:t>Sentinel-2 optical + Sentinel-1</a:t>
            </a:r>
            <a:br>
              <a:rPr sz="1100">
                <a:solidFill>
                  <a:schemeClr val="bg1"/>
                </a:solidFill>
              </a:rPr>
            </a:br>
            <a:r>
              <a:rPr sz="1100">
                <a:solidFill>
                  <a:schemeClr val="bg1"/>
                </a:solidFill>
              </a:rPr>
              <a:t>radar via Planetary Computer STAC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43416" y="2697480"/>
            <a:ext cx="2697480" cy="1600200"/>
          </a:xfrm>
          <a:prstGeom prst="roundRect">
            <a:avLst>
              <a:gd name="adj" fmla="val 4000"/>
            </a:avLst>
          </a:prstGeom>
          <a:solidFill>
            <a:srgbClr val="050A1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098280" y="2734056"/>
            <a:ext cx="258775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53144" y="2843784"/>
            <a:ext cx="2478024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 i="0">
                <a:solidFill>
                  <a:srgbClr val="6366F1"/>
                </a:solidFill>
                <a:latin typeface="Segoe UI"/>
              </a:defRPr>
            </a:pPr>
            <a:r>
              <a:t>Export &amp; Reports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53144" y="3200400"/>
            <a:ext cx="2478024" cy="868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950" b="0" i="0">
                <a:solidFill>
                  <a:srgbClr val="94A3B8"/>
                </a:solidFill>
                <a:latin typeface="Segoe UI"/>
              </a:defRPr>
            </a:pPr>
            <a:r>
              <a:rPr sz="1100">
                <a:solidFill>
                  <a:schemeClr val="bg1"/>
                </a:solidFill>
              </a:rPr>
              <a:t>Markdown, JSON records, GeoJSON</a:t>
            </a:r>
            <a:br>
              <a:rPr sz="1100">
                <a:solidFill>
                  <a:schemeClr val="bg1"/>
                </a:solidFill>
              </a:rPr>
            </a:br>
            <a:r>
              <a:rPr sz="1100">
                <a:solidFill>
                  <a:schemeClr val="bg1"/>
                </a:solidFill>
              </a:rPr>
              <a:t>polygons &amp; image downloads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4544568"/>
            <a:ext cx="11247120" cy="502920"/>
          </a:xfrm>
          <a:prstGeom prst="roundRect">
            <a:avLst>
              <a:gd name="adj" fmla="val 4000"/>
            </a:avLst>
          </a:prstGeom>
          <a:solidFill>
            <a:srgbClr val="050A18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" y="4636008"/>
            <a:ext cx="1088136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000" b="1" i="1">
                <a:solidFill>
                  <a:srgbClr val="22D3EE"/>
                </a:solidFill>
                <a:latin typeface="Segoe UI"/>
              </a:defRPr>
            </a:pPr>
            <a:r>
              <a:rPr sz="12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All features designed to make satellite analysis approachable while keeping source imagery and metadata available for inspection.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0" y="6492240"/>
            <a:ext cx="12191695" cy="365760"/>
          </a:xfrm>
          <a:prstGeom prst="roundRect">
            <a:avLst>
              <a:gd name="adj" fmla="val 4000"/>
            </a:avLst>
          </a:prstGeom>
          <a:solidFill>
            <a:srgbClr val="03051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0" y="6473952"/>
            <a:ext cx="12191695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750" b="1" i="0">
                <a:solidFill>
                  <a:srgbClr val="94A3B8"/>
                </a:solidFill>
                <a:latin typeface="Segoe UI"/>
              </a:defRPr>
            </a:pPr>
            <a:r>
              <a:t>SatQuery  |  Project Expo  |  Team Cognitrail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6537960"/>
            <a:ext cx="393192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750" b="0" i="1">
                <a:solidFill>
                  <a:srgbClr val="22D3EE"/>
                </a:solidFill>
                <a:latin typeface="Segoe UI"/>
              </a:defRPr>
            </a:pPr>
            <a:r>
              <a:t>Satellite Intelligence, Queried Clearly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20095" y="6537960"/>
            <a:ext cx="109728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94A3B8"/>
                </a:solidFill>
                <a:latin typeface="Segoe UI"/>
              </a:defRPr>
            </a:pPr>
            <a: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arth_n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1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600" b="1" i="0">
                <a:solidFill>
                  <a:srgbClr val="22D3EE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"/>
            <a:ext cx="22860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274320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00" b="1" i="0">
                <a:solidFill>
                  <a:srgbClr val="94A3B8"/>
                </a:solidFill>
                <a:latin typeface="Segoe UI"/>
              </a:defRPr>
            </a:pPr>
            <a:r>
              <a:rPr sz="900" dirty="0">
                <a:solidFill>
                  <a:schemeClr val="bg1"/>
                </a:solidFill>
              </a:rPr>
              <a:t>USER INTERFACE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60120"/>
            <a:ext cx="2560320" cy="438912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sz="1100">
                <a:solidFill>
                  <a:schemeClr val="bg1"/>
                </a:solidFill>
              </a:rPr>
              <a:t>NL Query Chat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960120"/>
            <a:ext cx="2560320" cy="438912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sz="1100">
                <a:solidFill>
                  <a:schemeClr val="bg1"/>
                </a:solidFill>
              </a:rPr>
              <a:t>3D Globe Viewer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960120"/>
            <a:ext cx="2560320" cy="438912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sz="1100">
                <a:solidFill>
                  <a:schemeClr val="bg1"/>
                </a:solidFill>
              </a:rPr>
              <a:t>Leaflet 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960120"/>
            <a:ext cx="2560320" cy="438912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sz="1100">
                <a:solidFill>
                  <a:schemeClr val="bg1"/>
                </a:solidFill>
              </a:rPr>
              <a:t>Image Viewer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645920" y="1435608"/>
            <a:ext cx="182880" cy="201168"/>
          </a:xfrm>
          <a:prstGeom prst="down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own Arrow 11"/>
          <p:cNvSpPr/>
          <p:nvPr/>
        </p:nvSpPr>
        <p:spPr>
          <a:xfrm>
            <a:off x="4480560" y="1435608"/>
            <a:ext cx="182880" cy="201168"/>
          </a:xfrm>
          <a:prstGeom prst="down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Down Arrow 12"/>
          <p:cNvSpPr/>
          <p:nvPr/>
        </p:nvSpPr>
        <p:spPr>
          <a:xfrm>
            <a:off x="7315200" y="1435608"/>
            <a:ext cx="182880" cy="201168"/>
          </a:xfrm>
          <a:prstGeom prst="down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own Arrow 13"/>
          <p:cNvSpPr/>
          <p:nvPr/>
        </p:nvSpPr>
        <p:spPr>
          <a:xfrm>
            <a:off x="10149840" y="1435608"/>
            <a:ext cx="182880" cy="201168"/>
          </a:xfrm>
          <a:prstGeom prst="down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1600200"/>
            <a:ext cx="274320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00" b="1" i="0">
                <a:solidFill>
                  <a:srgbClr val="94A3B8"/>
                </a:solidFill>
                <a:latin typeface="Segoe UI"/>
              </a:defRPr>
            </a:pPr>
            <a:r>
              <a:rPr sz="900">
                <a:solidFill>
                  <a:schemeClr val="bg1"/>
                </a:solidFill>
              </a:rPr>
              <a:t>FRONTEND (Vercel)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783080"/>
            <a:ext cx="5029200" cy="438912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sz="1050">
                <a:solidFill>
                  <a:schemeClr val="bg1"/>
                </a:solidFill>
              </a:rPr>
              <a:t>React  |  Vite  |  TypeScript  |  TailwindCSS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0" y="1783080"/>
            <a:ext cx="4663440" cy="438912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sz="1050">
                <a:solidFill>
                  <a:schemeClr val="bg1"/>
                </a:solidFill>
              </a:rPr>
              <a:t>Leaflet  |  CesiumJS  |  MediaPipe Hand Tracking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2880360" y="2258568"/>
            <a:ext cx="182880" cy="201168"/>
          </a:xfrm>
          <a:prstGeom prst="down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Down Arrow 18"/>
          <p:cNvSpPr/>
          <p:nvPr/>
        </p:nvSpPr>
        <p:spPr>
          <a:xfrm>
            <a:off x="7818120" y="2258568"/>
            <a:ext cx="182880" cy="201168"/>
          </a:xfrm>
          <a:prstGeom prst="down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2423160"/>
            <a:ext cx="274320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00" b="1" i="0">
                <a:solidFill>
                  <a:srgbClr val="94A3B8"/>
                </a:solidFill>
                <a:latin typeface="Segoe UI"/>
              </a:defRPr>
            </a:pPr>
            <a:r>
              <a:rPr sz="900">
                <a:solidFill>
                  <a:schemeClr val="bg1"/>
                </a:solidFill>
              </a:rPr>
              <a:t>BACKEND (Render)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606040"/>
            <a:ext cx="3017520" cy="438912"/>
          </a:xfrm>
          <a:prstGeom prst="roundRect">
            <a:avLst>
              <a:gd name="adj" fmla="val 50000"/>
            </a:avLst>
          </a:prstGeom>
          <a:solidFill>
            <a:srgbClr val="066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sz="1050">
                <a:solidFill>
                  <a:schemeClr val="bg1"/>
                </a:solidFill>
              </a:rPr>
              <a:t>FastAPI  |  Job Queue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0" y="2606040"/>
            <a:ext cx="3200400" cy="438912"/>
          </a:xfrm>
          <a:prstGeom prst="roundRect">
            <a:avLst>
              <a:gd name="adj" fmla="val 50000"/>
            </a:avLst>
          </a:prstGeom>
          <a:solidFill>
            <a:srgbClr val="066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sz="1050">
                <a:solidFill>
                  <a:schemeClr val="bg1"/>
                </a:solidFill>
              </a:rPr>
              <a:t>Image Pipeline + AI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80" y="2606040"/>
            <a:ext cx="3291840" cy="438912"/>
          </a:xfrm>
          <a:prstGeom prst="roundRect">
            <a:avLst>
              <a:gd name="adj" fmla="val 50000"/>
            </a:avLst>
          </a:prstGeom>
          <a:solidFill>
            <a:srgbClr val="066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sz="1050">
                <a:solidFill>
                  <a:schemeClr val="bg1"/>
                </a:solidFill>
              </a:rPr>
              <a:t>Rasterio + GDAL + NumPy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1874520" y="3081528"/>
            <a:ext cx="182880" cy="201168"/>
          </a:xfrm>
          <a:prstGeom prst="down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Down Arrow 24"/>
          <p:cNvSpPr/>
          <p:nvPr/>
        </p:nvSpPr>
        <p:spPr>
          <a:xfrm>
            <a:off x="5166360" y="3081528"/>
            <a:ext cx="182880" cy="201168"/>
          </a:xfrm>
          <a:prstGeom prst="down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Down Arrow 25"/>
          <p:cNvSpPr/>
          <p:nvPr/>
        </p:nvSpPr>
        <p:spPr>
          <a:xfrm>
            <a:off x="8595360" y="3081528"/>
            <a:ext cx="182880" cy="201168"/>
          </a:xfrm>
          <a:prstGeom prst="down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3246120"/>
            <a:ext cx="274320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00" b="1" i="0">
                <a:solidFill>
                  <a:srgbClr val="94A3B8"/>
                </a:solidFill>
                <a:latin typeface="Segoe UI"/>
              </a:defRPr>
            </a:pPr>
            <a:r>
              <a:rPr sz="900">
                <a:solidFill>
                  <a:schemeClr val="bg1"/>
                </a:solidFill>
              </a:rPr>
              <a:t>AI &amp; ANALYSIS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429000"/>
            <a:ext cx="2286000" cy="438912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sz="1050">
                <a:solidFill>
                  <a:schemeClr val="bg1"/>
                </a:solidFill>
              </a:rPr>
              <a:t>Gemini LLM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26080" y="3429000"/>
            <a:ext cx="2286000" cy="438912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sz="1050">
                <a:solidFill>
                  <a:schemeClr val="bg1"/>
                </a:solidFill>
              </a:rPr>
              <a:t>GeoChat VLM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94960" y="3429000"/>
            <a:ext cx="2286000" cy="438912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sz="1050">
                <a:solidFill>
                  <a:schemeClr val="bg1"/>
                </a:solidFill>
              </a:rPr>
              <a:t>Water Change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0" y="3429000"/>
            <a:ext cx="2560320" cy="438912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sz="1050">
                <a:solidFill>
                  <a:schemeClr val="bg1"/>
                </a:solidFill>
              </a:rPr>
              <a:t>Scene Classification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1508760" y="3904488"/>
            <a:ext cx="182880" cy="201168"/>
          </a:xfrm>
          <a:prstGeom prst="down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Down Arrow 32"/>
          <p:cNvSpPr/>
          <p:nvPr/>
        </p:nvSpPr>
        <p:spPr>
          <a:xfrm>
            <a:off x="3977640" y="3904488"/>
            <a:ext cx="182880" cy="201168"/>
          </a:xfrm>
          <a:prstGeom prst="down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Down Arrow 33"/>
          <p:cNvSpPr/>
          <p:nvPr/>
        </p:nvSpPr>
        <p:spPr>
          <a:xfrm>
            <a:off x="6446520" y="3904488"/>
            <a:ext cx="182880" cy="201168"/>
          </a:xfrm>
          <a:prstGeom prst="down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Down Arrow 34"/>
          <p:cNvSpPr/>
          <p:nvPr/>
        </p:nvSpPr>
        <p:spPr>
          <a:xfrm>
            <a:off x="9052560" y="3904488"/>
            <a:ext cx="182880" cy="201168"/>
          </a:xfrm>
          <a:prstGeom prst="down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4069080"/>
            <a:ext cx="274320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00" b="1" i="0">
                <a:solidFill>
                  <a:srgbClr val="94A3B8"/>
                </a:solidFill>
                <a:latin typeface="Segoe UI"/>
              </a:defRPr>
            </a:pPr>
            <a:r>
              <a:rPr sz="900">
                <a:solidFill>
                  <a:schemeClr val="bg1"/>
                </a:solidFill>
              </a:rPr>
              <a:t>DATA SOURCES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251960"/>
            <a:ext cx="2103120" cy="43891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rPr sz="1000">
                <a:solidFill>
                  <a:schemeClr val="bg1"/>
                </a:solidFill>
              </a:rPr>
              <a:t>Sentinel-2 Optical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0" y="4251960"/>
            <a:ext cx="2103120" cy="438912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rPr sz="1000">
                <a:solidFill>
                  <a:schemeClr val="bg1"/>
                </a:solidFill>
              </a:rPr>
              <a:t>Sentinel-1 SAR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0" y="4251960"/>
            <a:ext cx="2560320" cy="438912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rPr sz="1000">
                <a:solidFill>
                  <a:schemeClr val="bg1"/>
                </a:solidFill>
              </a:rPr>
              <a:t>Planetary Computer STAC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0" y="4251960"/>
            <a:ext cx="2286000" cy="438912"/>
          </a:xfrm>
          <a:prstGeom prst="roundRect">
            <a:avLst>
              <a:gd name="adj" fmla="val 50000"/>
            </a:avLst>
          </a:prstGeom>
          <a:solidFill>
            <a:srgbClr val="066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rPr sz="1000">
                <a:solidFill>
                  <a:schemeClr val="bg1"/>
                </a:solidFill>
              </a:rPr>
              <a:t>Esri World Imagery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241280" y="4251960"/>
            <a:ext cx="1463040" cy="438912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rPr sz="1000">
                <a:solidFill>
                  <a:schemeClr val="bg1"/>
                </a:solidFill>
              </a:rPr>
              <a:t>SQLite Jobs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0" y="6492240"/>
            <a:ext cx="12191695" cy="365760"/>
          </a:xfrm>
          <a:prstGeom prst="roundRect">
            <a:avLst>
              <a:gd name="adj" fmla="val 4000"/>
            </a:avLst>
          </a:prstGeom>
          <a:solidFill>
            <a:srgbClr val="03051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0" y="6473952"/>
            <a:ext cx="12191695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750" b="1" i="0">
                <a:solidFill>
                  <a:srgbClr val="94A3B8"/>
                </a:solidFill>
                <a:latin typeface="Segoe UI"/>
              </a:defRPr>
            </a:pPr>
            <a:r>
              <a:t>SatQuery  |  Project Expo  |  Team Cognitrail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0" y="6537960"/>
            <a:ext cx="393192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750" b="0" i="1">
                <a:solidFill>
                  <a:srgbClr val="22D3EE"/>
                </a:solidFill>
                <a:latin typeface="Segoe UI"/>
              </a:defRPr>
            </a:pPr>
            <a:r>
              <a:t>Satellite Intelligence, Queried Clearly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20095" y="6537960"/>
            <a:ext cx="109728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94A3B8"/>
                </a:solidFill>
                <a:latin typeface="Segoe UI"/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lean_chan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1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800" b="1" i="0">
                <a:solidFill>
                  <a:srgbClr val="22D3EE"/>
                </a:solidFill>
                <a:latin typeface="Segoe UI"/>
              </a:defRPr>
            </a:pPr>
            <a: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"/>
            <a:ext cx="22860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005840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 b="0" i="1">
                <a:solidFill>
                  <a:srgbClr val="94A3B8"/>
                </a:solidFill>
                <a:latin typeface="Segoe UI"/>
              </a:defRPr>
            </a:pPr>
            <a:r>
              <a:t>From geographic question to inspectable satellite 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7463" y="1188720"/>
            <a:ext cx="1664208" cy="3108960"/>
          </a:xfrm>
          <a:prstGeom prst="roundRect">
            <a:avLst>
              <a:gd name="adj" fmla="val 4000"/>
            </a:avLst>
          </a:prstGeom>
          <a:solidFill>
            <a:srgbClr val="050A1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340967" y="1325880"/>
            <a:ext cx="457200" cy="4572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327" y="1920240"/>
            <a:ext cx="155448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200" b="1" i="0">
                <a:solidFill>
                  <a:srgbClr val="0EA5E9"/>
                </a:solidFill>
                <a:latin typeface="Segoe UI"/>
              </a:defRPr>
            </a:pPr>
            <a:r>
              <a:t>Pick a 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327" y="2286000"/>
            <a:ext cx="1554480" cy="1371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900" b="0" i="0">
                <a:solidFill>
                  <a:srgbClr val="94A3B8"/>
                </a:solidFill>
                <a:latin typeface="Segoe UI"/>
              </a:defRPr>
            </a:pPr>
            <a:r>
              <a:rPr sz="1100" dirty="0">
                <a:solidFill>
                  <a:schemeClr val="bg1"/>
                </a:solidFill>
              </a:rPr>
              <a:t>Search, enter coords,</a:t>
            </a:r>
            <a:br>
              <a:rPr sz="1100" dirty="0">
                <a:solidFill>
                  <a:schemeClr val="bg1"/>
                </a:solidFill>
              </a:rPr>
            </a:br>
            <a:r>
              <a:rPr sz="1100" dirty="0">
                <a:solidFill>
                  <a:schemeClr val="bg1"/>
                </a:solidFill>
              </a:rPr>
              <a:t>or click the map.</a:t>
            </a:r>
            <a:br>
              <a:rPr sz="1100" dirty="0">
                <a:solidFill>
                  <a:schemeClr val="bg1"/>
                </a:solidFill>
              </a:rPr>
            </a:br>
            <a:r>
              <a:rPr sz="1100" dirty="0">
                <a:solidFill>
                  <a:schemeClr val="bg1"/>
                </a:solidFill>
              </a:rPr>
              <a:t>Choose area size.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27071" y="2651760"/>
            <a:ext cx="128016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547975" y="1188720"/>
            <a:ext cx="1664208" cy="3108960"/>
          </a:xfrm>
          <a:prstGeom prst="roundRect">
            <a:avLst>
              <a:gd name="adj" fmla="val 4000"/>
            </a:avLst>
          </a:prstGeom>
          <a:solidFill>
            <a:srgbClr val="050A1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151479" y="132588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2839" y="1920240"/>
            <a:ext cx="155448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200" b="1" i="0">
                <a:solidFill>
                  <a:srgbClr val="14B8A6"/>
                </a:solidFill>
                <a:latin typeface="Segoe UI"/>
              </a:defRPr>
            </a:pPr>
            <a:r>
              <a:t>Choose Dates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2839" y="2286000"/>
            <a:ext cx="1554480" cy="1371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900" b="0" i="0">
                <a:solidFill>
                  <a:srgbClr val="94A3B8"/>
                </a:solidFill>
                <a:latin typeface="Segoe UI"/>
              </a:defRPr>
            </a:pPr>
            <a:r>
              <a:rPr sz="1100" dirty="0">
                <a:solidFill>
                  <a:schemeClr val="bg1"/>
                </a:solidFill>
              </a:rPr>
              <a:t>Select one date or</a:t>
            </a:r>
            <a:br>
              <a:rPr sz="1100" dirty="0">
                <a:solidFill>
                  <a:schemeClr val="bg1"/>
                </a:solidFill>
              </a:rPr>
            </a:br>
            <a:r>
              <a:rPr sz="1100" dirty="0">
                <a:solidFill>
                  <a:schemeClr val="bg1"/>
                </a:solidFill>
              </a:rPr>
              <a:t>two for comparison.</a:t>
            </a:r>
            <a:br>
              <a:rPr sz="1100" dirty="0">
                <a:solidFill>
                  <a:schemeClr val="bg1"/>
                </a:solidFill>
              </a:rPr>
            </a:br>
            <a:r>
              <a:rPr sz="1100" dirty="0">
                <a:solidFill>
                  <a:schemeClr val="bg1"/>
                </a:solidFill>
              </a:rPr>
              <a:t>Date tolerance search.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237583" y="2651760"/>
            <a:ext cx="128016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358487" y="1188720"/>
            <a:ext cx="1664208" cy="3108960"/>
          </a:xfrm>
          <a:prstGeom prst="roundRect">
            <a:avLst>
              <a:gd name="adj" fmla="val 4000"/>
            </a:avLst>
          </a:prstGeom>
          <a:solidFill>
            <a:srgbClr val="050A1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961991" y="1325880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3351" y="1920240"/>
            <a:ext cx="155448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200" b="1" i="0">
                <a:solidFill>
                  <a:srgbClr val="8B5CF6"/>
                </a:solidFill>
                <a:latin typeface="Segoe UI"/>
              </a:defRPr>
            </a:pPr>
            <a:r>
              <a:t>Ask a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3351" y="2286000"/>
            <a:ext cx="1554480" cy="1371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900" b="0" i="0">
                <a:solidFill>
                  <a:srgbClr val="94A3B8"/>
                </a:solidFill>
                <a:latin typeface="Segoe UI"/>
              </a:defRPr>
            </a:pPr>
            <a:r>
              <a:rPr sz="1100">
                <a:solidFill>
                  <a:schemeClr val="bg1"/>
                </a:solidFill>
              </a:rPr>
              <a:t>"Describe water features"</a:t>
            </a:r>
            <a:br>
              <a:rPr sz="1100">
                <a:solidFill>
                  <a:schemeClr val="bg1"/>
                </a:solidFill>
              </a:rPr>
            </a:br>
            <a:r>
              <a:rPr sz="1100">
                <a:solidFill>
                  <a:schemeClr val="bg1"/>
                </a:solidFill>
              </a:rPr>
              <a:t>"What changed?"</a:t>
            </a:r>
            <a:br>
              <a:rPr sz="1100">
                <a:solidFill>
                  <a:schemeClr val="bg1"/>
                </a:solidFill>
              </a:rPr>
            </a:br>
            <a:r>
              <a:rPr sz="1100">
                <a:solidFill>
                  <a:schemeClr val="bg1"/>
                </a:solidFill>
              </a:rPr>
              <a:t>"Any limitations?"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048095" y="2651760"/>
            <a:ext cx="128016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168999" y="1188720"/>
            <a:ext cx="1664208" cy="3108960"/>
          </a:xfrm>
          <a:prstGeom prst="roundRect">
            <a:avLst>
              <a:gd name="adj" fmla="val 4000"/>
            </a:avLst>
          </a:prstGeom>
          <a:solidFill>
            <a:srgbClr val="050A1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772503" y="1325880"/>
            <a:ext cx="457200" cy="457200"/>
          </a:xfrm>
          <a:prstGeom prst="ellipse">
            <a:avLst/>
          </a:prstGeom>
          <a:solidFill>
            <a:srgbClr val="066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3863" y="1920240"/>
            <a:ext cx="155448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200" b="1" i="0">
                <a:solidFill>
                  <a:srgbClr val="066BED"/>
                </a:solidFill>
                <a:latin typeface="Segoe UI"/>
              </a:defRPr>
            </a:pPr>
            <a:r>
              <a:t>Retrieve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23863" y="2286000"/>
            <a:ext cx="1554480" cy="1371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900" b="0" i="0">
                <a:solidFill>
                  <a:srgbClr val="94A3B8"/>
                </a:solidFill>
                <a:latin typeface="Segoe UI"/>
              </a:defRPr>
            </a:pPr>
            <a:r>
              <a:rPr sz="1100">
                <a:solidFill>
                  <a:schemeClr val="bg1"/>
                </a:solidFill>
              </a:rPr>
              <a:t>STAC catalog search.</a:t>
            </a:r>
            <a:br>
              <a:rPr sz="1100">
                <a:solidFill>
                  <a:schemeClr val="bg1"/>
                </a:solidFill>
              </a:rPr>
            </a:br>
            <a:r>
              <a:rPr sz="1100">
                <a:solidFill>
                  <a:schemeClr val="bg1"/>
                </a:solidFill>
              </a:rPr>
              <a:t>Cloud filtering.</a:t>
            </a:r>
            <a:br>
              <a:rPr sz="1100">
                <a:solidFill>
                  <a:schemeClr val="bg1"/>
                </a:solidFill>
              </a:rPr>
            </a:br>
            <a:r>
              <a:rPr sz="1100">
                <a:solidFill>
                  <a:schemeClr val="bg1"/>
                </a:solidFill>
              </a:rPr>
              <a:t>Align &amp; crop tiles.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858607" y="2651760"/>
            <a:ext cx="128016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979511" y="1188720"/>
            <a:ext cx="1664208" cy="3108960"/>
          </a:xfrm>
          <a:prstGeom prst="roundRect">
            <a:avLst>
              <a:gd name="adj" fmla="val 4000"/>
            </a:avLst>
          </a:prstGeom>
          <a:solidFill>
            <a:srgbClr val="050A1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583015" y="1325880"/>
            <a:ext cx="457200" cy="45720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34375" y="1920240"/>
            <a:ext cx="155448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200" b="1" i="0">
                <a:solidFill>
                  <a:srgbClr val="FB923C"/>
                </a:solidFill>
                <a:latin typeface="Segoe UI"/>
              </a:defRPr>
            </a:pPr>
            <a:r>
              <a:t>Analyze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34375" y="2286000"/>
            <a:ext cx="1554480" cy="1371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900" b="0" i="0">
                <a:solidFill>
                  <a:srgbClr val="94A3B8"/>
                </a:solidFill>
                <a:latin typeface="Segoe UI"/>
              </a:defRPr>
            </a:pPr>
            <a:r>
              <a:rPr sz="1100">
                <a:solidFill>
                  <a:schemeClr val="bg1"/>
                </a:solidFill>
              </a:rPr>
              <a:t>AI interpretation.</a:t>
            </a:r>
            <a:br>
              <a:rPr sz="1100">
                <a:solidFill>
                  <a:schemeClr val="bg1"/>
                </a:solidFill>
              </a:rPr>
            </a:br>
            <a:r>
              <a:rPr sz="1100">
                <a:solidFill>
                  <a:schemeClr val="bg1"/>
                </a:solidFill>
              </a:rPr>
              <a:t>Water-change screening.</a:t>
            </a:r>
            <a:br>
              <a:rPr sz="1100">
                <a:solidFill>
                  <a:schemeClr val="bg1"/>
                </a:solidFill>
              </a:rPr>
            </a:br>
            <a:r>
              <a:rPr sz="1100">
                <a:solidFill>
                  <a:schemeClr val="bg1"/>
                </a:solidFill>
              </a:rPr>
              <a:t>Spectral classification.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669119" y="2651760"/>
            <a:ext cx="128016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790023" y="1188720"/>
            <a:ext cx="1664208" cy="3108960"/>
          </a:xfrm>
          <a:prstGeom prst="roundRect">
            <a:avLst>
              <a:gd name="adj" fmla="val 4000"/>
            </a:avLst>
          </a:prstGeom>
          <a:solidFill>
            <a:srgbClr val="050A1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393527" y="132588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44887" y="1920240"/>
            <a:ext cx="155448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200" b="1" i="0">
                <a:solidFill>
                  <a:srgbClr val="F59E0B"/>
                </a:solidFill>
                <a:latin typeface="Segoe UI"/>
              </a:defRPr>
            </a:pPr>
            <a:r>
              <a:t>Inspect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44887" y="2286000"/>
            <a:ext cx="1554480" cy="1371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900" b="0" i="0">
                <a:solidFill>
                  <a:srgbClr val="94A3B8"/>
                </a:solidFill>
                <a:latin typeface="Segoe UI"/>
              </a:defRPr>
            </a:pPr>
            <a:r>
              <a:rPr sz="1100">
                <a:solidFill>
                  <a:schemeClr val="bg1"/>
                </a:solidFill>
              </a:rPr>
              <a:t>View evidence, maps,</a:t>
            </a:r>
            <a:br>
              <a:rPr sz="1100">
                <a:solidFill>
                  <a:schemeClr val="bg1"/>
                </a:solidFill>
              </a:rPr>
            </a:br>
            <a:r>
              <a:rPr sz="1100">
                <a:solidFill>
                  <a:schemeClr val="bg1"/>
                </a:solidFill>
              </a:rPr>
              <a:t>explanations &amp; warnings.</a:t>
            </a:r>
            <a:br>
              <a:rPr sz="1100">
                <a:solidFill>
                  <a:schemeClr val="bg1"/>
                </a:solidFill>
              </a:rPr>
            </a:br>
            <a:r>
              <a:rPr sz="1100">
                <a:solidFill>
                  <a:schemeClr val="bg1"/>
                </a:solidFill>
              </a:rPr>
              <a:t>Export reports.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4434840"/>
            <a:ext cx="10332720" cy="685800"/>
          </a:xfrm>
          <a:prstGeom prst="roundRect">
            <a:avLst>
              <a:gd name="adj" fmla="val 4000"/>
            </a:avLst>
          </a:prstGeom>
          <a:solidFill>
            <a:srgbClr val="050A18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97280" y="4507992"/>
            <a:ext cx="164592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900" b="1" i="0">
                <a:solidFill>
                  <a:srgbClr val="22D3EE"/>
                </a:solidFill>
                <a:latin typeface="Segoe UI"/>
              </a:defRPr>
            </a:pPr>
            <a:r>
              <a:rPr sz="1100" dirty="0"/>
              <a:t>EXAMPLE QUERY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4736592"/>
            <a:ext cx="987552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 b="1" i="1">
                <a:solidFill>
                  <a:srgbClr val="FFFFFF"/>
                </a:solidFill>
                <a:latin typeface="Segoe UI"/>
              </a:defRPr>
            </a:pPr>
            <a:r>
              <a:rPr sz="12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"Does the available imagery suggest a change in water coverage between these two dates?"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0" y="6492240"/>
            <a:ext cx="12191695" cy="365760"/>
          </a:xfrm>
          <a:prstGeom prst="roundRect">
            <a:avLst>
              <a:gd name="adj" fmla="val 4000"/>
            </a:avLst>
          </a:prstGeom>
          <a:solidFill>
            <a:srgbClr val="03051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6473952"/>
            <a:ext cx="12191695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750" b="1" i="0">
                <a:solidFill>
                  <a:srgbClr val="94A3B8"/>
                </a:solidFill>
                <a:latin typeface="Segoe UI"/>
              </a:defRPr>
            </a:pPr>
            <a:r>
              <a:t>SatQuery  |  Project Expo  |  Team Cognitrail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0" y="6537960"/>
            <a:ext cx="393192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750" b="0" i="1">
                <a:solidFill>
                  <a:srgbClr val="22D3EE"/>
                </a:solidFill>
                <a:latin typeface="Segoe UI"/>
              </a:defRPr>
            </a:pPr>
            <a:r>
              <a:t>Satellite Intelligence, Queried Clearly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20095" y="6537960"/>
            <a:ext cx="109728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94A3B8"/>
                </a:solidFill>
                <a:latin typeface="Segoe UI"/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lean_atmosphe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10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800" b="1" i="0">
                <a:solidFill>
                  <a:srgbClr val="22D3EE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49808"/>
            <a:ext cx="18288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377440" y="749808"/>
            <a:ext cx="1097280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74720" y="749808"/>
            <a:ext cx="5486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2697480" cy="36576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sz="1200"/>
              <a:t>FRONTEND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2697480" cy="594360"/>
          </a:xfrm>
          <a:prstGeom prst="roundRect">
            <a:avLst>
              <a:gd name="adj" fmla="val 4000"/>
            </a:avLst>
          </a:prstGeom>
          <a:solidFill>
            <a:srgbClr val="050A1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12064" y="1499616"/>
            <a:ext cx="2587752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517904"/>
            <a:ext cx="2478024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1" i="0">
                <a:solidFill>
                  <a:srgbClr val="0EA5E9"/>
                </a:solidFill>
                <a:latin typeface="Segoe UI"/>
              </a:defRPr>
            </a:pPr>
            <a:r>
              <a:rPr sz="1200"/>
              <a:t>React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764792"/>
            <a:ext cx="2478024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50" b="0" i="0">
                <a:solidFill>
                  <a:srgbClr val="94A3B8"/>
                </a:solidFill>
                <a:latin typeface="Segoe UI"/>
              </a:defRPr>
            </a:pPr>
            <a:r>
              <a:rPr sz="1050">
                <a:solidFill>
                  <a:schemeClr val="bg1"/>
                </a:solidFill>
              </a:rPr>
              <a:t>Application UI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21408"/>
            <a:ext cx="2697480" cy="594360"/>
          </a:xfrm>
          <a:prstGeom prst="roundRect">
            <a:avLst>
              <a:gd name="adj" fmla="val 4000"/>
            </a:avLst>
          </a:prstGeom>
          <a:solidFill>
            <a:srgbClr val="050A1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12064" y="2157984"/>
            <a:ext cx="2587752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2176272"/>
            <a:ext cx="2478024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1" i="0">
                <a:solidFill>
                  <a:srgbClr val="0EA5E9"/>
                </a:solidFill>
                <a:latin typeface="Segoe UI"/>
              </a:defRPr>
            </a:pPr>
            <a:r>
              <a:rPr sz="1200"/>
              <a:t>Vite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423160"/>
            <a:ext cx="2478024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50" b="0" i="0">
                <a:solidFill>
                  <a:srgbClr val="94A3B8"/>
                </a:solidFill>
                <a:latin typeface="Segoe UI"/>
              </a:defRPr>
            </a:pPr>
            <a:r>
              <a:rPr sz="1050">
                <a:solidFill>
                  <a:schemeClr val="bg1"/>
                </a:solidFill>
              </a:rPr>
              <a:t>Build &amp; dev server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779776"/>
            <a:ext cx="2697480" cy="594360"/>
          </a:xfrm>
          <a:prstGeom prst="roundRect">
            <a:avLst>
              <a:gd name="adj" fmla="val 4000"/>
            </a:avLst>
          </a:prstGeom>
          <a:solidFill>
            <a:srgbClr val="050A1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12064" y="2816352"/>
            <a:ext cx="2587752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2834640"/>
            <a:ext cx="2478024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1" i="0">
                <a:solidFill>
                  <a:srgbClr val="0EA5E9"/>
                </a:solidFill>
                <a:latin typeface="Segoe UI"/>
              </a:defRPr>
            </a:pPr>
            <a:r>
              <a:rPr sz="1200"/>
              <a:t>Leaflet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081528"/>
            <a:ext cx="2478024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50" b="0" i="0">
                <a:solidFill>
                  <a:srgbClr val="94A3B8"/>
                </a:solidFill>
                <a:latin typeface="Segoe UI"/>
              </a:defRPr>
            </a:pPr>
            <a:r>
              <a:rPr sz="1050">
                <a:solidFill>
                  <a:schemeClr val="bg1"/>
                </a:solidFill>
              </a:rPr>
              <a:t>2D interactive maps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438144"/>
            <a:ext cx="2697480" cy="594360"/>
          </a:xfrm>
          <a:prstGeom prst="roundRect">
            <a:avLst>
              <a:gd name="adj" fmla="val 4000"/>
            </a:avLst>
          </a:prstGeom>
          <a:solidFill>
            <a:srgbClr val="050A1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12064" y="3474720"/>
            <a:ext cx="2587752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3493008"/>
            <a:ext cx="2478024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1" i="0">
                <a:solidFill>
                  <a:srgbClr val="0EA5E9"/>
                </a:solidFill>
                <a:latin typeface="Segoe UI"/>
              </a:defRPr>
            </a:pPr>
            <a:r>
              <a:rPr sz="1200"/>
              <a:t>CesiumJS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739896"/>
            <a:ext cx="2478024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50" b="0" i="0">
                <a:solidFill>
                  <a:srgbClr val="94A3B8"/>
                </a:solidFill>
                <a:latin typeface="Segoe UI"/>
              </a:defRPr>
            </a:pPr>
            <a:r>
              <a:rPr sz="1050">
                <a:solidFill>
                  <a:schemeClr val="bg1"/>
                </a:solidFill>
              </a:rPr>
              <a:t>3D Earth globe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096512"/>
            <a:ext cx="2697480" cy="594360"/>
          </a:xfrm>
          <a:prstGeom prst="roundRect">
            <a:avLst>
              <a:gd name="adj" fmla="val 4000"/>
            </a:avLst>
          </a:prstGeom>
          <a:solidFill>
            <a:srgbClr val="050A1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12064" y="4133088"/>
            <a:ext cx="2587752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4151376"/>
            <a:ext cx="2478024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1" i="0">
                <a:solidFill>
                  <a:srgbClr val="0EA5E9"/>
                </a:solidFill>
                <a:latin typeface="Segoe UI"/>
              </a:defRPr>
            </a:pPr>
            <a:r>
              <a:rPr sz="1200"/>
              <a:t>MediaPipe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398264"/>
            <a:ext cx="2478024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50" b="0" i="0">
                <a:solidFill>
                  <a:srgbClr val="94A3B8"/>
                </a:solidFill>
                <a:latin typeface="Segoe UI"/>
              </a:defRPr>
            </a:pPr>
            <a:r>
              <a:rPr sz="1050">
                <a:solidFill>
                  <a:schemeClr val="bg1"/>
                </a:solidFill>
              </a:rPr>
              <a:t>Hand gesture tracking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754880"/>
            <a:ext cx="2697480" cy="594360"/>
          </a:xfrm>
          <a:prstGeom prst="roundRect">
            <a:avLst>
              <a:gd name="adj" fmla="val 4000"/>
            </a:avLst>
          </a:prstGeom>
          <a:solidFill>
            <a:srgbClr val="050A1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12064" y="4791456"/>
            <a:ext cx="2587752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6928" y="4809744"/>
            <a:ext cx="2478024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1" i="0">
                <a:solidFill>
                  <a:srgbClr val="0EA5E9"/>
                </a:solidFill>
                <a:latin typeface="Segoe UI"/>
              </a:defRPr>
            </a:pPr>
            <a:r>
              <a:rPr sz="1200"/>
              <a:t>TailwindCSS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5056632"/>
            <a:ext cx="2478024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50" b="0" i="0">
                <a:solidFill>
                  <a:srgbClr val="94A3B8"/>
                </a:solidFill>
                <a:latin typeface="Segoe UI"/>
              </a:defRPr>
            </a:pPr>
            <a:r>
              <a:rPr sz="1050">
                <a:solidFill>
                  <a:schemeClr val="bg1"/>
                </a:solidFill>
              </a:rPr>
              <a:t>Utility-first styling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19272" y="1005840"/>
            <a:ext cx="2697480" cy="36576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sz="1200"/>
              <a:t>BACKEND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19272" y="1463040"/>
            <a:ext cx="2697480" cy="594360"/>
          </a:xfrm>
          <a:prstGeom prst="roundRect">
            <a:avLst>
              <a:gd name="adj" fmla="val 4000"/>
            </a:avLst>
          </a:prstGeom>
          <a:solidFill>
            <a:srgbClr val="050A1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374136" y="1499616"/>
            <a:ext cx="2587752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29000" y="1517904"/>
            <a:ext cx="2478024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1" i="0">
                <a:solidFill>
                  <a:srgbClr val="14B8A6"/>
                </a:solidFill>
                <a:latin typeface="Segoe UI"/>
              </a:defRPr>
            </a:pPr>
            <a:r>
              <a:rPr sz="1200"/>
              <a:t>Python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9000" y="1764792"/>
            <a:ext cx="2478024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50" b="0" i="0">
                <a:solidFill>
                  <a:srgbClr val="94A3B8"/>
                </a:solidFill>
                <a:latin typeface="Segoe UI"/>
              </a:defRPr>
            </a:pPr>
            <a:r>
              <a:rPr sz="1050">
                <a:solidFill>
                  <a:schemeClr val="bg1"/>
                </a:solidFill>
              </a:rPr>
              <a:t>Core language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19272" y="2121408"/>
            <a:ext cx="2697480" cy="594360"/>
          </a:xfrm>
          <a:prstGeom prst="roundRect">
            <a:avLst>
              <a:gd name="adj" fmla="val 4000"/>
            </a:avLst>
          </a:prstGeom>
          <a:solidFill>
            <a:srgbClr val="050A1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374136" y="2157984"/>
            <a:ext cx="2587752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429000" y="2176272"/>
            <a:ext cx="2478024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1" i="0">
                <a:solidFill>
                  <a:srgbClr val="14B8A6"/>
                </a:solidFill>
                <a:latin typeface="Segoe UI"/>
              </a:defRPr>
            </a:pPr>
            <a:r>
              <a:rPr sz="1200"/>
              <a:t>FastAPI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29000" y="2423160"/>
            <a:ext cx="2478024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50" b="0" i="0">
                <a:solidFill>
                  <a:srgbClr val="94A3B8"/>
                </a:solidFill>
                <a:latin typeface="Segoe UI"/>
              </a:defRPr>
            </a:pPr>
            <a:r>
              <a:rPr sz="1050">
                <a:solidFill>
                  <a:schemeClr val="bg1"/>
                </a:solidFill>
              </a:rPr>
              <a:t>API &amp; job queue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19272" y="2779776"/>
            <a:ext cx="2697480" cy="594360"/>
          </a:xfrm>
          <a:prstGeom prst="roundRect">
            <a:avLst>
              <a:gd name="adj" fmla="val 4000"/>
            </a:avLst>
          </a:prstGeom>
          <a:solidFill>
            <a:srgbClr val="050A1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374136" y="2816352"/>
            <a:ext cx="2587752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429000" y="2834640"/>
            <a:ext cx="2478024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1" i="0">
                <a:solidFill>
                  <a:srgbClr val="14B8A6"/>
                </a:solidFill>
                <a:latin typeface="Segoe UI"/>
              </a:defRPr>
            </a:pPr>
            <a:r>
              <a:rPr sz="1200"/>
              <a:t>Rasterio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29000" y="3081528"/>
            <a:ext cx="2478024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50" b="0" i="0">
                <a:solidFill>
                  <a:srgbClr val="94A3B8"/>
                </a:solidFill>
                <a:latin typeface="Segoe UI"/>
              </a:defRPr>
            </a:pPr>
            <a:r>
              <a:rPr sz="1050">
                <a:solidFill>
                  <a:schemeClr val="bg1"/>
                </a:solidFill>
              </a:rPr>
              <a:t>Raster image I/O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319272" y="3438144"/>
            <a:ext cx="2697480" cy="594360"/>
          </a:xfrm>
          <a:prstGeom prst="roundRect">
            <a:avLst>
              <a:gd name="adj" fmla="val 4000"/>
            </a:avLst>
          </a:prstGeom>
          <a:solidFill>
            <a:srgbClr val="050A1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7" name="Rectangle 46"/>
          <p:cNvSpPr/>
          <p:nvPr/>
        </p:nvSpPr>
        <p:spPr>
          <a:xfrm>
            <a:off x="3374136" y="3474720"/>
            <a:ext cx="2587752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429000" y="3493008"/>
            <a:ext cx="2478024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1" i="0">
                <a:solidFill>
                  <a:srgbClr val="14B8A6"/>
                </a:solidFill>
                <a:latin typeface="Segoe UI"/>
              </a:defRPr>
            </a:pPr>
            <a:r>
              <a:rPr sz="1200"/>
              <a:t>GDAL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29000" y="3739896"/>
            <a:ext cx="2478024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50" b="0" i="0">
                <a:solidFill>
                  <a:srgbClr val="94A3B8"/>
                </a:solidFill>
                <a:latin typeface="Segoe UI"/>
              </a:defRPr>
            </a:pPr>
            <a:r>
              <a:rPr sz="1050">
                <a:solidFill>
                  <a:schemeClr val="bg1"/>
                </a:solidFill>
              </a:rPr>
              <a:t>Geospatial transforms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319272" y="4096512"/>
            <a:ext cx="2697480" cy="594360"/>
          </a:xfrm>
          <a:prstGeom prst="roundRect">
            <a:avLst>
              <a:gd name="adj" fmla="val 4000"/>
            </a:avLst>
          </a:prstGeom>
          <a:solidFill>
            <a:srgbClr val="050A1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3374136" y="4133088"/>
            <a:ext cx="2587752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429000" y="4151376"/>
            <a:ext cx="2478024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1" i="0">
                <a:solidFill>
                  <a:srgbClr val="14B8A6"/>
                </a:solidFill>
                <a:latin typeface="Segoe UI"/>
              </a:defRPr>
            </a:pPr>
            <a:r>
              <a:rPr sz="1200"/>
              <a:t>NumPy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29000" y="4398264"/>
            <a:ext cx="2478024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50" b="0" i="0">
                <a:solidFill>
                  <a:srgbClr val="94A3B8"/>
                </a:solidFill>
                <a:latin typeface="Segoe UI"/>
              </a:defRPr>
            </a:pPr>
            <a:r>
              <a:rPr sz="1050">
                <a:solidFill>
                  <a:schemeClr val="bg1"/>
                </a:solidFill>
              </a:rPr>
              <a:t>Array computation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319272" y="4754880"/>
            <a:ext cx="2697480" cy="594360"/>
          </a:xfrm>
          <a:prstGeom prst="roundRect">
            <a:avLst>
              <a:gd name="adj" fmla="val 4000"/>
            </a:avLst>
          </a:prstGeom>
          <a:solidFill>
            <a:srgbClr val="050A1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374136" y="4791456"/>
            <a:ext cx="2587752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429000" y="4809744"/>
            <a:ext cx="2478024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1" i="0">
                <a:solidFill>
                  <a:srgbClr val="14B8A6"/>
                </a:solidFill>
                <a:latin typeface="Segoe UI"/>
              </a:defRPr>
            </a:pPr>
            <a:r>
              <a:rPr sz="1200"/>
              <a:t>PyProj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29000" y="5056632"/>
            <a:ext cx="2478024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50" b="0" i="0">
                <a:solidFill>
                  <a:srgbClr val="94A3B8"/>
                </a:solidFill>
                <a:latin typeface="Segoe UI"/>
              </a:defRPr>
            </a:pPr>
            <a:r>
              <a:rPr sz="1050">
                <a:solidFill>
                  <a:schemeClr val="bg1"/>
                </a:solidFill>
              </a:rPr>
              <a:t>Geographic calculations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81344" y="1005840"/>
            <a:ext cx="2697480" cy="36576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sz="1200"/>
              <a:t>AI / ANALYSIS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81344" y="1463040"/>
            <a:ext cx="2697480" cy="594360"/>
          </a:xfrm>
          <a:prstGeom prst="roundRect">
            <a:avLst>
              <a:gd name="adj" fmla="val 4000"/>
            </a:avLst>
          </a:prstGeom>
          <a:solidFill>
            <a:srgbClr val="050A1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236208" y="1499616"/>
            <a:ext cx="2587752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91072" y="1517904"/>
            <a:ext cx="2478024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1" i="0">
                <a:solidFill>
                  <a:srgbClr val="8B5CF6"/>
                </a:solidFill>
                <a:latin typeface="Segoe UI"/>
              </a:defRPr>
            </a:pPr>
            <a:r>
              <a:rPr sz="1200"/>
              <a:t>Gemini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91072" y="1764792"/>
            <a:ext cx="2478024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50" b="0" i="0">
                <a:solidFill>
                  <a:srgbClr val="94A3B8"/>
                </a:solidFill>
                <a:latin typeface="Segoe UI"/>
              </a:defRPr>
            </a:pPr>
            <a:r>
              <a:rPr sz="1050">
                <a:solidFill>
                  <a:schemeClr val="bg1"/>
                </a:solidFill>
              </a:rPr>
              <a:t>NL interpretation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181344" y="2121408"/>
            <a:ext cx="2697480" cy="594360"/>
          </a:xfrm>
          <a:prstGeom prst="roundRect">
            <a:avLst>
              <a:gd name="adj" fmla="val 4000"/>
            </a:avLst>
          </a:prstGeom>
          <a:solidFill>
            <a:srgbClr val="050A1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6236208" y="2157984"/>
            <a:ext cx="2587752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291072" y="2176272"/>
            <a:ext cx="2478024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1" i="0">
                <a:solidFill>
                  <a:srgbClr val="8B5CF6"/>
                </a:solidFill>
                <a:latin typeface="Segoe UI"/>
              </a:defRPr>
            </a:pPr>
            <a:r>
              <a:rPr sz="1200"/>
              <a:t>GeoChat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91072" y="2423160"/>
            <a:ext cx="2478024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50" b="0" i="0">
                <a:solidFill>
                  <a:srgbClr val="94A3B8"/>
                </a:solidFill>
                <a:latin typeface="Segoe UI"/>
              </a:defRPr>
            </a:pPr>
            <a:r>
              <a:rPr sz="1050">
                <a:solidFill>
                  <a:schemeClr val="bg1"/>
                </a:solidFill>
              </a:rPr>
              <a:t>Vision-language model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181344" y="2779776"/>
            <a:ext cx="2697480" cy="594360"/>
          </a:xfrm>
          <a:prstGeom prst="roundRect">
            <a:avLst>
              <a:gd name="adj" fmla="val 4000"/>
            </a:avLst>
          </a:prstGeom>
          <a:solidFill>
            <a:srgbClr val="050A1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236208" y="2816352"/>
            <a:ext cx="2587752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291072" y="2834640"/>
            <a:ext cx="2478024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1" i="0">
                <a:solidFill>
                  <a:srgbClr val="8B5CF6"/>
                </a:solidFill>
                <a:latin typeface="Segoe UI"/>
              </a:defRPr>
            </a:pPr>
            <a:r>
              <a:rPr sz="1200"/>
              <a:t>Scene Classification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91072" y="3081528"/>
            <a:ext cx="2478024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50" b="0" i="0">
                <a:solidFill>
                  <a:srgbClr val="94A3B8"/>
                </a:solidFill>
                <a:latin typeface="Segoe UI"/>
              </a:defRPr>
            </a:pPr>
            <a:r>
              <a:rPr sz="1050">
                <a:solidFill>
                  <a:schemeClr val="bg1"/>
                </a:solidFill>
              </a:rPr>
              <a:t>Cloud/water/land pixels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181344" y="3438144"/>
            <a:ext cx="2697480" cy="594360"/>
          </a:xfrm>
          <a:prstGeom prst="roundRect">
            <a:avLst>
              <a:gd name="adj" fmla="val 4000"/>
            </a:avLst>
          </a:prstGeom>
          <a:solidFill>
            <a:srgbClr val="050A1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6236208" y="3474720"/>
            <a:ext cx="2587752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291072" y="3493008"/>
            <a:ext cx="2478024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1" i="0">
                <a:solidFill>
                  <a:srgbClr val="8B5CF6"/>
                </a:solidFill>
                <a:latin typeface="Segoe UI"/>
              </a:defRPr>
            </a:pPr>
            <a:r>
              <a:rPr sz="1200"/>
              <a:t>Water Screening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91072" y="3739896"/>
            <a:ext cx="2478024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50" b="0" i="0">
                <a:solidFill>
                  <a:srgbClr val="94A3B8"/>
                </a:solidFill>
                <a:latin typeface="Segoe UI"/>
              </a:defRPr>
            </a:pPr>
            <a:r>
              <a:rPr sz="1050">
                <a:solidFill>
                  <a:schemeClr val="bg1"/>
                </a:solidFill>
              </a:rPr>
              <a:t>Change estimation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181344" y="4096512"/>
            <a:ext cx="2697480" cy="594360"/>
          </a:xfrm>
          <a:prstGeom prst="roundRect">
            <a:avLst>
              <a:gd name="adj" fmla="val 4000"/>
            </a:avLst>
          </a:prstGeom>
          <a:solidFill>
            <a:srgbClr val="050A1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236208" y="4133088"/>
            <a:ext cx="2587752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291072" y="4151376"/>
            <a:ext cx="2478024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1" i="0">
                <a:solidFill>
                  <a:srgbClr val="8B5CF6"/>
                </a:solidFill>
                <a:latin typeface="Segoe UI"/>
              </a:defRPr>
            </a:pPr>
            <a:r>
              <a:rPr sz="1200"/>
              <a:t>Content Hashing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91072" y="4398264"/>
            <a:ext cx="2478024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50" b="0" i="0">
                <a:solidFill>
                  <a:srgbClr val="94A3B8"/>
                </a:solidFill>
                <a:latin typeface="Segoe UI"/>
              </a:defRPr>
            </a:pPr>
            <a:r>
              <a:rPr sz="1050">
                <a:solidFill>
                  <a:schemeClr val="bg1"/>
                </a:solidFill>
              </a:rPr>
              <a:t>Evidence fingerprints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181344" y="4754880"/>
            <a:ext cx="2697480" cy="594360"/>
          </a:xfrm>
          <a:prstGeom prst="roundRect">
            <a:avLst>
              <a:gd name="adj" fmla="val 4000"/>
            </a:avLst>
          </a:prstGeom>
          <a:solidFill>
            <a:srgbClr val="050A1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6236208" y="4791456"/>
            <a:ext cx="2587752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291072" y="4809744"/>
            <a:ext cx="2478024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1" i="0">
                <a:solidFill>
                  <a:srgbClr val="8B5CF6"/>
                </a:solidFill>
                <a:latin typeface="Segoe UI"/>
              </a:defRPr>
            </a:pPr>
            <a:r>
              <a:rPr sz="1200"/>
              <a:t>Job Pipeline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91072" y="5056632"/>
            <a:ext cx="2478024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50" b="0" i="0">
                <a:solidFill>
                  <a:srgbClr val="94A3B8"/>
                </a:solidFill>
                <a:latin typeface="Segoe UI"/>
              </a:defRPr>
            </a:pPr>
            <a:r>
              <a:rPr sz="1050">
                <a:solidFill>
                  <a:schemeClr val="bg1"/>
                </a:solidFill>
              </a:rPr>
              <a:t>Async processing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043416" y="1005840"/>
            <a:ext cx="269748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sz="1200"/>
              <a:t>DATA &amp; DEPLOY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043416" y="1463040"/>
            <a:ext cx="2697480" cy="594360"/>
          </a:xfrm>
          <a:prstGeom prst="roundRect">
            <a:avLst>
              <a:gd name="adj" fmla="val 4000"/>
            </a:avLst>
          </a:prstGeom>
          <a:solidFill>
            <a:srgbClr val="050A1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9098280" y="1499616"/>
            <a:ext cx="25877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9153144" y="1517904"/>
            <a:ext cx="2478024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1" i="0">
                <a:solidFill>
                  <a:srgbClr val="F59E0B"/>
                </a:solidFill>
                <a:latin typeface="Segoe UI"/>
              </a:defRPr>
            </a:pPr>
            <a:r>
              <a:rPr sz="1200"/>
              <a:t>Planetary Computer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153144" y="1764792"/>
            <a:ext cx="2478024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50" b="0" i="0">
                <a:solidFill>
                  <a:srgbClr val="94A3B8"/>
                </a:solidFill>
                <a:latin typeface="Segoe UI"/>
              </a:defRPr>
            </a:pPr>
            <a:r>
              <a:rPr sz="1050">
                <a:solidFill>
                  <a:schemeClr val="bg1"/>
                </a:solidFill>
              </a:rPr>
              <a:t>STAC satellite catalog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043416" y="2121408"/>
            <a:ext cx="2697480" cy="594360"/>
          </a:xfrm>
          <a:prstGeom prst="roundRect">
            <a:avLst>
              <a:gd name="adj" fmla="val 4000"/>
            </a:avLst>
          </a:prstGeom>
          <a:solidFill>
            <a:srgbClr val="050A1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9098280" y="2157984"/>
            <a:ext cx="25877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9153144" y="2176272"/>
            <a:ext cx="2478024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1" i="0">
                <a:solidFill>
                  <a:srgbClr val="F59E0B"/>
                </a:solidFill>
                <a:latin typeface="Segoe UI"/>
              </a:defRPr>
            </a:pPr>
            <a:r>
              <a:rPr sz="1200"/>
              <a:t>Sentinel-2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153144" y="2423160"/>
            <a:ext cx="2478024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50" b="0" i="0">
                <a:solidFill>
                  <a:srgbClr val="94A3B8"/>
                </a:solidFill>
                <a:latin typeface="Segoe UI"/>
              </a:defRPr>
            </a:pPr>
            <a:r>
              <a:rPr sz="1050">
                <a:solidFill>
                  <a:schemeClr val="bg1"/>
                </a:solidFill>
              </a:rPr>
              <a:t>10m optical imagery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043416" y="2779776"/>
            <a:ext cx="2697480" cy="594360"/>
          </a:xfrm>
          <a:prstGeom prst="roundRect">
            <a:avLst>
              <a:gd name="adj" fmla="val 4000"/>
            </a:avLst>
          </a:prstGeom>
          <a:solidFill>
            <a:srgbClr val="050A1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9098280" y="2816352"/>
            <a:ext cx="25877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9153144" y="2834640"/>
            <a:ext cx="2478024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1" i="0">
                <a:solidFill>
                  <a:srgbClr val="F59E0B"/>
                </a:solidFill>
                <a:latin typeface="Segoe UI"/>
              </a:defRPr>
            </a:pPr>
            <a:r>
              <a:rPr sz="1200"/>
              <a:t>Sentinel-1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153144" y="3081528"/>
            <a:ext cx="2478024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50" b="0" i="0">
                <a:solidFill>
                  <a:srgbClr val="94A3B8"/>
                </a:solidFill>
                <a:latin typeface="Segoe UI"/>
              </a:defRPr>
            </a:pPr>
            <a:r>
              <a:rPr sz="1050">
                <a:solidFill>
                  <a:schemeClr val="bg1"/>
                </a:solidFill>
              </a:rPr>
              <a:t>SAR radar data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9043416" y="3438144"/>
            <a:ext cx="2697480" cy="594360"/>
          </a:xfrm>
          <a:prstGeom prst="roundRect">
            <a:avLst>
              <a:gd name="adj" fmla="val 4000"/>
            </a:avLst>
          </a:prstGeom>
          <a:solidFill>
            <a:srgbClr val="050A1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9098280" y="3474720"/>
            <a:ext cx="25877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9153144" y="3493008"/>
            <a:ext cx="2478024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1" i="0">
                <a:solidFill>
                  <a:srgbClr val="F59E0B"/>
                </a:solidFill>
                <a:latin typeface="Segoe UI"/>
              </a:defRPr>
            </a:pPr>
            <a:r>
              <a:rPr sz="1200"/>
              <a:t>SQLite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153144" y="3739896"/>
            <a:ext cx="2478024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50" b="0" i="0">
                <a:solidFill>
                  <a:srgbClr val="94A3B8"/>
                </a:solidFill>
                <a:latin typeface="Segoe UI"/>
              </a:defRPr>
            </a:pPr>
            <a:r>
              <a:rPr sz="1050">
                <a:solidFill>
                  <a:schemeClr val="bg1"/>
                </a:solidFill>
              </a:rPr>
              <a:t>Job state persistence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9043416" y="4096512"/>
            <a:ext cx="2697480" cy="594360"/>
          </a:xfrm>
          <a:prstGeom prst="roundRect">
            <a:avLst>
              <a:gd name="adj" fmla="val 4000"/>
            </a:avLst>
          </a:prstGeom>
          <a:solidFill>
            <a:srgbClr val="050A1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9098280" y="4133088"/>
            <a:ext cx="25877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9153144" y="4151376"/>
            <a:ext cx="2478024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1" i="0">
                <a:solidFill>
                  <a:srgbClr val="F59E0B"/>
                </a:solidFill>
                <a:latin typeface="Segoe UI"/>
              </a:defRPr>
            </a:pPr>
            <a:r>
              <a:rPr sz="1200"/>
              <a:t>Vercel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153144" y="4398264"/>
            <a:ext cx="2478024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50" b="0" i="0">
                <a:solidFill>
                  <a:srgbClr val="94A3B8"/>
                </a:solidFill>
                <a:latin typeface="Segoe UI"/>
              </a:defRPr>
            </a:pPr>
            <a:r>
              <a:rPr sz="1050">
                <a:solidFill>
                  <a:schemeClr val="bg1"/>
                </a:solidFill>
              </a:rPr>
              <a:t>Frontend hosting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9043416" y="4754880"/>
            <a:ext cx="2697480" cy="594360"/>
          </a:xfrm>
          <a:prstGeom prst="roundRect">
            <a:avLst>
              <a:gd name="adj" fmla="val 4000"/>
            </a:avLst>
          </a:prstGeom>
          <a:solidFill>
            <a:srgbClr val="050A1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9098280" y="4791456"/>
            <a:ext cx="25877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9153144" y="4809744"/>
            <a:ext cx="2478024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1" i="0">
                <a:solidFill>
                  <a:srgbClr val="F59E0B"/>
                </a:solidFill>
                <a:latin typeface="Segoe UI"/>
              </a:defRPr>
            </a:pPr>
            <a:r>
              <a:rPr sz="1200"/>
              <a:t>Render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153144" y="5056632"/>
            <a:ext cx="2478024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50" b="0" i="0">
                <a:solidFill>
                  <a:srgbClr val="94A3B8"/>
                </a:solidFill>
                <a:latin typeface="Segoe UI"/>
              </a:defRPr>
            </a:pPr>
            <a:r>
              <a:rPr sz="1050">
                <a:solidFill>
                  <a:schemeClr val="bg1"/>
                </a:solidFill>
              </a:rPr>
              <a:t>Backend hosting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0" y="6492240"/>
            <a:ext cx="12191695" cy="365760"/>
          </a:xfrm>
          <a:prstGeom prst="roundRect">
            <a:avLst>
              <a:gd name="adj" fmla="val 4000"/>
            </a:avLst>
          </a:prstGeom>
          <a:solidFill>
            <a:srgbClr val="03051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0" y="6473952"/>
            <a:ext cx="12191695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750" b="1" i="0">
                <a:solidFill>
                  <a:srgbClr val="94A3B8"/>
                </a:solidFill>
                <a:latin typeface="Segoe UI"/>
              </a:defRPr>
            </a:pPr>
            <a:r>
              <a:t>SatQuery  |  Project Expo  |  Team Cognitrail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114800" y="6537960"/>
            <a:ext cx="393192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750" b="0" i="1">
                <a:solidFill>
                  <a:srgbClr val="22D3EE"/>
                </a:solidFill>
                <a:latin typeface="Segoe UI"/>
              </a:defRPr>
            </a:pPr>
            <a:r>
              <a:t>Satellite Intelligence, Queried Clearly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820095" y="6537960"/>
            <a:ext cx="109728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94A3B8"/>
                </a:solidFill>
                <a:latin typeface="Segoe UI"/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C4D54303-B7F4-7D7D-6E32-2E300BF7E0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247" b="10156"/>
          <a:stretch>
            <a:fillRect/>
          </a:stretch>
        </p:blipFill>
        <p:spPr>
          <a:xfrm>
            <a:off x="1" y="0"/>
            <a:ext cx="12191999" cy="683971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" y="0"/>
            <a:ext cx="12191694" cy="6858000"/>
          </a:xfrm>
          <a:prstGeom prst="rect">
            <a:avLst/>
          </a:prstGeom>
          <a:solidFill>
            <a:srgbClr val="03051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600" b="1" i="0">
                <a:solidFill>
                  <a:srgbClr val="22D3EE"/>
                </a:solidFill>
                <a:latin typeface="Segoe UI"/>
              </a:defRPr>
            </a:pPr>
            <a:r>
              <a:t>3D GLOBE &amp; GESTURE CONTROLS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"/>
            <a:ext cx="27432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5486400" cy="4572000"/>
          </a:xfrm>
          <a:prstGeom prst="roundRect">
            <a:avLst>
              <a:gd name="adj" fmla="val 4000"/>
            </a:avLst>
          </a:prstGeom>
          <a:solidFill>
            <a:srgbClr val="050A1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8912" y="1042415"/>
            <a:ext cx="5340096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512064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0EA5E9"/>
                </a:solidFill>
                <a:latin typeface="Segoe UI"/>
              </a:defRPr>
            </a:pPr>
            <a:r>
              <a:t>CesiumJS 3D Earth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120640" cy="3657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900" b="0">
                <a:solidFill>
                  <a:srgbClr val="FFFFFF"/>
                </a:solidFill>
                <a:latin typeface="Segoe UI"/>
              </a:defRPr>
            </a:pPr>
            <a:r>
              <a:rPr sz="1200" dirty="0">
                <a:solidFill>
                  <a:schemeClr val="bg1"/>
                </a:solidFill>
              </a:rPr>
              <a:t>Rotate, zoom, and fly to any location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900" b="0">
                <a:solidFill>
                  <a:srgbClr val="FFFFFF"/>
                </a:solidFill>
                <a:latin typeface="Segoe UI"/>
              </a:defRPr>
            </a:pPr>
            <a:r>
              <a:rPr sz="1200" dirty="0">
                <a:solidFill>
                  <a:schemeClr val="bg1"/>
                </a:solidFill>
              </a:rPr>
              <a:t>Display dated imagery layers with adjustable opacity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900" b="0">
                <a:solidFill>
                  <a:srgbClr val="FFFFFF"/>
                </a:solidFill>
                <a:latin typeface="Segoe UI"/>
              </a:defRPr>
            </a:pPr>
            <a:r>
              <a:rPr sz="1200" dirty="0">
                <a:solidFill>
                  <a:schemeClr val="bg1"/>
                </a:solidFill>
              </a:rPr>
              <a:t>Show area-of-interest and change polygons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900" b="0">
                <a:solidFill>
                  <a:srgbClr val="FFFFFF"/>
                </a:solidFill>
                <a:latin typeface="Segoe UI"/>
              </a:defRPr>
            </a:pPr>
            <a:r>
              <a:rPr sz="1200" dirty="0">
                <a:solidFill>
                  <a:schemeClr val="bg1"/>
                </a:solidFill>
              </a:rPr>
              <a:t>Distinguishes navigation from analysis imagery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900" b="0">
                <a:solidFill>
                  <a:srgbClr val="FFFFFF"/>
                </a:solidFill>
                <a:latin typeface="Segoe UI"/>
              </a:defRPr>
            </a:pPr>
            <a:endParaRPr sz="1200" dirty="0"/>
          </a:p>
          <a:p>
            <a:pPr algn="l">
              <a:spcBef>
                <a:spcPts val="0"/>
              </a:spcBef>
              <a:spcAft>
                <a:spcPts val="500"/>
              </a:spcAft>
              <a:defRPr sz="900" b="0">
                <a:solidFill>
                  <a:srgbClr val="22D3EE"/>
                </a:solidFill>
                <a:latin typeface="Segoe UI"/>
              </a:defRPr>
            </a:pPr>
            <a:r>
              <a:rPr sz="1200" dirty="0">
                <a:solidFill>
                  <a:schemeClr val="accent5"/>
                </a:solidFill>
              </a:rPr>
              <a:t>Gesture Modes (</a:t>
            </a:r>
            <a:r>
              <a:rPr sz="1200" dirty="0" err="1">
                <a:solidFill>
                  <a:schemeClr val="accent5"/>
                </a:solidFill>
              </a:rPr>
              <a:t>MediaPipe</a:t>
            </a:r>
            <a:r>
              <a:rPr sz="1200" dirty="0">
                <a:solidFill>
                  <a:schemeClr val="accent5"/>
                </a:solidFill>
              </a:rPr>
              <a:t>):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900" b="0">
                <a:solidFill>
                  <a:srgbClr val="FFFFFF"/>
                </a:solidFill>
                <a:latin typeface="Segoe UI"/>
              </a:defRPr>
            </a:pPr>
            <a:endParaRPr sz="1200" dirty="0"/>
          </a:p>
          <a:p>
            <a:pPr algn="l">
              <a:spcBef>
                <a:spcPts val="0"/>
              </a:spcBef>
              <a:spcAft>
                <a:spcPts val="5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200" dirty="0">
                <a:solidFill>
                  <a:schemeClr val="bg1"/>
                </a:solidFill>
              </a:rPr>
              <a:t>Auto -- One-hand rotate + two-hand zoom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200" dirty="0">
                <a:solidFill>
                  <a:schemeClr val="bg1"/>
                </a:solidFill>
              </a:rPr>
              <a:t>Rotate -- Open hand movement controls rotation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200" dirty="0">
                <a:solidFill>
                  <a:schemeClr val="bg1"/>
                </a:solidFill>
              </a:rPr>
              <a:t>Zoom -- Pinch or spread palms to zoom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900" b="0">
                <a:solidFill>
                  <a:srgbClr val="FFFFFF"/>
                </a:solidFill>
                <a:latin typeface="Segoe UI"/>
              </a:defRPr>
            </a:pPr>
            <a:endParaRPr sz="1200" dirty="0">
              <a:solidFill>
                <a:schemeClr val="bg1"/>
              </a:solidFill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200" dirty="0">
                <a:solidFill>
                  <a:schemeClr val="bg1"/>
                </a:solidFill>
              </a:rPr>
              <a:t>Lower hands or close fists to pause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200" dirty="0">
                <a:solidFill>
                  <a:schemeClr val="bg1"/>
                </a:solidFill>
              </a:rPr>
              <a:t>Press Escape to disable camera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200" dirty="0">
                <a:solidFill>
                  <a:schemeClr val="bg1"/>
                </a:solidFill>
              </a:rPr>
              <a:t>All processing happens locally in browser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005840"/>
            <a:ext cx="5760720" cy="4572000"/>
          </a:xfrm>
          <a:prstGeom prst="roundRect">
            <a:avLst>
              <a:gd name="adj" fmla="val 4000"/>
            </a:avLst>
          </a:prstGeom>
          <a:solidFill>
            <a:srgbClr val="050A1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08192" y="1042415"/>
            <a:ext cx="5614416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1188720"/>
            <a:ext cx="53949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22C55E"/>
                </a:solidFill>
                <a:latin typeface="Segoe UI"/>
              </a:defRPr>
            </a:pPr>
            <a:r>
              <a:t>Performance Optimizations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600200"/>
            <a:ext cx="5394960" cy="3657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200" dirty="0">
                <a:solidFill>
                  <a:schemeClr val="bg1"/>
                </a:solidFill>
              </a:rPr>
              <a:t>Low-resolution camera input for speed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200" dirty="0">
                <a:solidFill>
                  <a:schemeClr val="bg1"/>
                </a:solidFill>
              </a:rPr>
              <a:t>Capped inference rate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200" dirty="0">
                <a:solidFill>
                  <a:schemeClr val="bg1"/>
                </a:solidFill>
              </a:rPr>
              <a:t>Slower tracking while paused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200" dirty="0">
                <a:solidFill>
                  <a:schemeClr val="bg1"/>
                </a:solidFill>
              </a:rPr>
              <a:t>Adaptive delays on slower devices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200" dirty="0">
                <a:solidFill>
                  <a:schemeClr val="bg1"/>
                </a:solidFill>
              </a:rPr>
              <a:t>Reuse of image-processing canvas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200" dirty="0">
                <a:solidFill>
                  <a:schemeClr val="bg1"/>
                </a:solidFill>
              </a:rPr>
              <a:t>Motion smoothing &amp; small-movement thresholds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200" dirty="0">
                <a:solidFill>
                  <a:schemeClr val="bg1"/>
                </a:solidFill>
              </a:rPr>
              <a:t>Rejection of large tracking jumps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200" dirty="0">
                <a:solidFill>
                  <a:schemeClr val="bg1"/>
                </a:solidFill>
              </a:rPr>
              <a:t>Movement references reset on gesture change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endParaRPr sz="1200" dirty="0">
              <a:solidFill>
                <a:schemeClr val="bg1"/>
              </a:solidFill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200" dirty="0">
                <a:solidFill>
                  <a:schemeClr val="bg1"/>
                </a:solidFill>
              </a:rPr>
              <a:t>Mouse and touch input always available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200" dirty="0">
                <a:solidFill>
                  <a:schemeClr val="bg1"/>
                </a:solidFill>
              </a:rPr>
              <a:t>as alternatives for all users.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" y="6492240"/>
            <a:ext cx="12191694" cy="365760"/>
          </a:xfrm>
          <a:prstGeom prst="roundRect">
            <a:avLst>
              <a:gd name="adj" fmla="val 4000"/>
            </a:avLst>
          </a:prstGeom>
          <a:solidFill>
            <a:srgbClr val="03051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6473952"/>
            <a:ext cx="12191695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750" b="1" i="0">
                <a:solidFill>
                  <a:srgbClr val="94A3B8"/>
                </a:solidFill>
                <a:latin typeface="Segoe UI"/>
              </a:defRPr>
            </a:pPr>
            <a:r>
              <a:t>SatQuery  |  Project Expo  |  Team Cognitrail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6537960"/>
            <a:ext cx="393192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750" b="0" i="1">
                <a:solidFill>
                  <a:srgbClr val="22D3EE"/>
                </a:solidFill>
                <a:latin typeface="Segoe UI"/>
              </a:defRPr>
            </a:pPr>
            <a:r>
              <a:t>Satellite Intelligence, Queried Clearly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537960"/>
            <a:ext cx="109728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94A3B8"/>
                </a:solidFill>
                <a:latin typeface="Segoe UI"/>
              </a:defRPr>
            </a:pPr>
            <a: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tellite_terr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1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600" b="1" i="0">
                <a:solidFill>
                  <a:srgbClr val="22D3EE"/>
                </a:solidFill>
                <a:latin typeface="Segoe UI"/>
              </a:defRPr>
            </a:pPr>
            <a:r>
              <a:t>EVIDENCE &amp; TRANSPARENCY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"/>
            <a:ext cx="27432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005840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 b="0" i="1">
                <a:solidFill>
                  <a:srgbClr val="94A3B8"/>
                </a:solidFill>
                <a:latin typeface="Segoe UI"/>
              </a:defRPr>
            </a:pPr>
            <a:r>
              <a:rPr sz="12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Every result is traceable to its source observations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5440680" cy="2560320"/>
          </a:xfrm>
          <a:prstGeom prst="roundRect">
            <a:avLst>
              <a:gd name="adj" fmla="val 4000"/>
            </a:avLst>
          </a:prstGeom>
          <a:solidFill>
            <a:srgbClr val="050A1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0352" y="1133856"/>
            <a:ext cx="5294376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261872"/>
            <a:ext cx="512064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1" i="0">
                <a:solidFill>
                  <a:srgbClr val="0EA5E9"/>
                </a:solidFill>
                <a:latin typeface="Segoe UI"/>
              </a:defRPr>
            </a:pPr>
            <a:r>
              <a:t>What Gets Recorded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5120640" cy="1828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50" b="0">
                <a:solidFill>
                  <a:srgbClr val="94A3B8"/>
                </a:solidFill>
                <a:latin typeface="Segoe UI"/>
              </a:defRPr>
            </a:pPr>
            <a:r>
              <a:rPr sz="1050" dirty="0">
                <a:solidFill>
                  <a:schemeClr val="bg1"/>
                </a:solidFill>
              </a:rPr>
              <a:t>  Satellite / sensor name &amp; scene identifier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950" b="0">
                <a:solidFill>
                  <a:srgbClr val="94A3B8"/>
                </a:solidFill>
                <a:latin typeface="Segoe UI"/>
              </a:defRPr>
            </a:pPr>
            <a:r>
              <a:rPr sz="1050" dirty="0">
                <a:solidFill>
                  <a:schemeClr val="bg1"/>
                </a:solidFill>
              </a:rPr>
              <a:t>  Requested date vs. actual acquisition date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950" b="0">
                <a:solidFill>
                  <a:srgbClr val="94A3B8"/>
                </a:solidFill>
                <a:latin typeface="Segoe UI"/>
              </a:defRPr>
            </a:pPr>
            <a:r>
              <a:rPr sz="1050" dirty="0">
                <a:solidFill>
                  <a:schemeClr val="bg1"/>
                </a:solidFill>
              </a:rPr>
              <a:t>  Geographic bounds &amp; image dimensions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950" b="0">
                <a:solidFill>
                  <a:srgbClr val="94A3B8"/>
                </a:solidFill>
                <a:latin typeface="Segoe UI"/>
              </a:defRPr>
            </a:pPr>
            <a:r>
              <a:rPr sz="1050" dirty="0">
                <a:solidFill>
                  <a:schemeClr val="bg1"/>
                </a:solidFill>
              </a:rPr>
              <a:t>  Usable-pixel coverage percentage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950" b="0">
                <a:solidFill>
                  <a:srgbClr val="94A3B8"/>
                </a:solidFill>
                <a:latin typeface="Segoe UI"/>
              </a:defRPr>
            </a:pPr>
            <a:r>
              <a:rPr sz="1050" dirty="0">
                <a:solidFill>
                  <a:schemeClr val="bg1"/>
                </a:solidFill>
              </a:rPr>
              <a:t>  Processing details &amp; pipeline steps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950" b="0">
                <a:solidFill>
                  <a:srgbClr val="94A3B8"/>
                </a:solidFill>
                <a:latin typeface="Segoe UI"/>
              </a:defRPr>
            </a:pPr>
            <a:r>
              <a:rPr sz="1050" dirty="0">
                <a:solidFill>
                  <a:schemeClr val="bg1"/>
                </a:solidFill>
              </a:rPr>
              <a:t>  Content hash (digital fingerprint of image bytes)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97280"/>
            <a:ext cx="5440680" cy="2560320"/>
          </a:xfrm>
          <a:prstGeom prst="roundRect">
            <a:avLst>
              <a:gd name="adj" fmla="val 4000"/>
            </a:avLst>
          </a:prstGeom>
          <a:solidFill>
            <a:srgbClr val="050A1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99632" y="1133856"/>
            <a:ext cx="5294376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1261872"/>
            <a:ext cx="512064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1" i="0">
                <a:solidFill>
                  <a:srgbClr val="F59E0B"/>
                </a:solidFill>
                <a:latin typeface="Segoe UI"/>
              </a:defRPr>
            </a:pPr>
            <a:r>
              <a:t>Export Formats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600200"/>
            <a:ext cx="5120640" cy="1828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000" b="1">
                <a:solidFill>
                  <a:srgbClr val="F59E0B"/>
                </a:solidFill>
                <a:latin typeface="Segoe UI"/>
              </a:defRPr>
            </a:pPr>
            <a:r>
              <a:rPr sz="1050" dirty="0"/>
              <a:t>  Markdown Reports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94A3B8"/>
                </a:solidFill>
                <a:latin typeface="Segoe UI"/>
              </a:defRPr>
            </a:pPr>
            <a:r>
              <a:rPr sz="900" dirty="0"/>
              <a:t>      </a:t>
            </a:r>
            <a:r>
              <a:rPr sz="900" dirty="0">
                <a:solidFill>
                  <a:schemeClr val="bg1"/>
                </a:solidFill>
              </a:rPr>
              <a:t>Readable analysis summaries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000" b="1">
                <a:solidFill>
                  <a:srgbClr val="F59E0B"/>
                </a:solidFill>
                <a:latin typeface="Segoe UI"/>
              </a:defRPr>
            </a:pPr>
            <a:r>
              <a:rPr sz="1050" dirty="0"/>
              <a:t>  JSON Evidence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94A3B8"/>
                </a:solidFill>
                <a:latin typeface="Segoe UI"/>
              </a:defRPr>
            </a:pPr>
            <a:r>
              <a:rPr sz="900" dirty="0">
                <a:solidFill>
                  <a:schemeClr val="bg1"/>
                </a:solidFill>
              </a:rPr>
              <a:t>      Structured metadata &amp; results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000" b="1">
                <a:solidFill>
                  <a:srgbClr val="F59E0B"/>
                </a:solidFill>
                <a:latin typeface="Segoe UI"/>
              </a:defRPr>
            </a:pPr>
            <a:r>
              <a:rPr sz="1050" dirty="0"/>
              <a:t>  </a:t>
            </a:r>
            <a:r>
              <a:rPr sz="1050" dirty="0" err="1"/>
              <a:t>GeoJSON</a:t>
            </a:r>
            <a:endParaRPr sz="1050" dirty="0"/>
          </a:p>
          <a:p>
            <a:pPr algn="l"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94A3B8"/>
                </a:solidFill>
                <a:latin typeface="Segoe UI"/>
              </a:defRPr>
            </a:pPr>
            <a:r>
              <a:rPr sz="900" dirty="0">
                <a:solidFill>
                  <a:schemeClr val="bg1"/>
                </a:solidFill>
              </a:rPr>
              <a:t>      Change polygons for mapping tools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000" b="1">
                <a:solidFill>
                  <a:srgbClr val="F59E0B"/>
                </a:solidFill>
                <a:latin typeface="Segoe UI"/>
              </a:defRPr>
            </a:pPr>
            <a:r>
              <a:rPr sz="1050" dirty="0"/>
              <a:t>  Image Downloads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94A3B8"/>
                </a:solidFill>
                <a:latin typeface="Segoe UI"/>
              </a:defRPr>
            </a:pPr>
            <a:r>
              <a:rPr sz="900" dirty="0">
                <a:solidFill>
                  <a:schemeClr val="bg1"/>
                </a:solidFill>
              </a:rPr>
              <a:t>      Processed observation copies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000" b="1">
                <a:solidFill>
                  <a:srgbClr val="F59E0B"/>
                </a:solidFill>
                <a:latin typeface="Segoe UI"/>
              </a:defRPr>
            </a:pPr>
            <a:r>
              <a:rPr sz="1050" dirty="0"/>
              <a:t>  Browser Storage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94A3B8"/>
                </a:solidFill>
                <a:latin typeface="Segoe UI"/>
              </a:defRPr>
            </a:pPr>
            <a:r>
              <a:rPr sz="900" dirty="0">
                <a:solidFill>
                  <a:schemeClr val="bg1"/>
                </a:solidFill>
              </a:rPr>
              <a:t>      Recent analyses saved locally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40480"/>
            <a:ext cx="11247120" cy="1645920"/>
          </a:xfrm>
          <a:prstGeom prst="roundRect">
            <a:avLst>
              <a:gd name="adj" fmla="val 4000"/>
            </a:avLst>
          </a:prstGeom>
          <a:solidFill>
            <a:srgbClr val="050A1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0352" y="3877056"/>
            <a:ext cx="11100816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4005072"/>
            <a:ext cx="365760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1" i="0">
                <a:solidFill>
                  <a:srgbClr val="8B5CF6"/>
                </a:solidFill>
                <a:latin typeface="Segoe UI"/>
              </a:defRPr>
            </a:pPr>
            <a:r>
              <a:t>Honest Limitations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343400"/>
            <a:ext cx="1088136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050" dirty="0">
                <a:solidFill>
                  <a:schemeClr val="bg1"/>
                </a:solidFill>
              </a:rPr>
              <a:t>    Imagery may be unavailable for the exact date requested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050" dirty="0">
                <a:solidFill>
                  <a:schemeClr val="bg1"/>
                </a:solidFill>
              </a:rPr>
              <a:t>    Image enlargement cannot overcome source-resolution limits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050" dirty="0">
                <a:solidFill>
                  <a:schemeClr val="bg1"/>
                </a:solidFill>
              </a:rPr>
              <a:t>    Water-change estimates require independent validation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050" dirty="0">
                <a:solidFill>
                  <a:schemeClr val="bg1"/>
                </a:solidFill>
              </a:rPr>
              <a:t>    AI explanations depend on external services &amp; require review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rPr sz="1050" dirty="0">
                <a:solidFill>
                  <a:schemeClr val="bg1"/>
                </a:solidFill>
              </a:rPr>
              <a:t>    Focuses on exploration -- not operational-grade measurement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0" y="6492240"/>
            <a:ext cx="12191695" cy="365760"/>
          </a:xfrm>
          <a:prstGeom prst="roundRect">
            <a:avLst>
              <a:gd name="adj" fmla="val 4000"/>
            </a:avLst>
          </a:prstGeom>
          <a:solidFill>
            <a:srgbClr val="03051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6473952"/>
            <a:ext cx="12191695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750" b="1" i="0">
                <a:solidFill>
                  <a:srgbClr val="94A3B8"/>
                </a:solidFill>
                <a:latin typeface="Segoe UI"/>
              </a:defRPr>
            </a:pPr>
            <a:r>
              <a:t>SatQuery  |  Project Expo  |  Team Cognitrail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6537960"/>
            <a:ext cx="393192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750" b="0" i="1">
                <a:solidFill>
                  <a:srgbClr val="22D3EE"/>
                </a:solidFill>
                <a:latin typeface="Segoe UI"/>
              </a:defRPr>
            </a:pPr>
            <a:r>
              <a:t>Satellite Intelligence, Queried Clearly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537960"/>
            <a:ext cx="109728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94A3B8"/>
                </a:solidFill>
                <a:latin typeface="Segoe UI"/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arth_from_spa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1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6858000" cy="4846320"/>
          </a:xfrm>
          <a:prstGeom prst="roundRect">
            <a:avLst>
              <a:gd name="adj" fmla="val 4000"/>
            </a:avLst>
          </a:prstGeom>
          <a:solidFill>
            <a:srgbClr val="050A18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64008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Thank 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64008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800" b="0" i="1">
                <a:solidFill>
                  <a:srgbClr val="22D3EE"/>
                </a:solidFill>
                <a:latin typeface="Segoe UI"/>
              </a:defRPr>
            </a:pPr>
            <a:r>
              <a:t>Satellite Intelligence, Queried Clearly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97480"/>
            <a:ext cx="3657600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1520" y="4754879"/>
            <a:ext cx="1645920" cy="4114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4800599"/>
            <a:ext cx="41148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1" i="0">
                <a:solidFill>
                  <a:srgbClr val="FFFFFF"/>
                </a:solidFill>
                <a:latin typeface="Segoe UI"/>
              </a:defRPr>
            </a:pPr>
            <a:r>
              <a:t>Cognitrail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49240"/>
            <a:ext cx="64008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1" i="0">
                <a:solidFill>
                  <a:srgbClr val="38BDF8"/>
                </a:solidFill>
                <a:latin typeface="Segoe UI"/>
              </a:defRPr>
            </a:pPr>
            <a:r>
              <a:t>Krishiv   |   Srujan   |   Bhavna   |   Ridhi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0" y="6492240"/>
            <a:ext cx="12191695" cy="365760"/>
          </a:xfrm>
          <a:prstGeom prst="roundRect">
            <a:avLst>
              <a:gd name="adj" fmla="val 4000"/>
            </a:avLst>
          </a:prstGeom>
          <a:solidFill>
            <a:srgbClr val="03051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91695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750" b="1" i="0">
                <a:solidFill>
                  <a:srgbClr val="94A3B8"/>
                </a:solidFill>
                <a:latin typeface="Segoe UI"/>
              </a:defRPr>
            </a:pPr>
            <a:r>
              <a:t>SatQuery  |  Project Expo  |  Team Cognitrail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6537960"/>
            <a:ext cx="393192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750" b="0" i="1">
                <a:solidFill>
                  <a:srgbClr val="22D3EE"/>
                </a:solidFill>
                <a:latin typeface="Segoe UI"/>
              </a:defRPr>
            </a:pPr>
            <a:r>
              <a:t>Satellite Intelligence, Queried Clearly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537960"/>
            <a:ext cx="109728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94A3B8"/>
                </a:solidFill>
                <a:latin typeface="Segoe UI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1204</Words>
  <Application>Microsoft Office PowerPoint</Application>
  <PresentationFormat>Widescreen</PresentationFormat>
  <Paragraphs>262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Krishiv Singh salathia</dc:creator>
  <cp:keywords/>
  <dc:description>generated using python-pptx</dc:description>
  <cp:lastModifiedBy>Krishiv Singh salathia</cp:lastModifiedBy>
  <cp:revision>3</cp:revision>
  <dcterms:created xsi:type="dcterms:W3CDTF">2013-01-27T09:14:16Z</dcterms:created>
  <dcterms:modified xsi:type="dcterms:W3CDTF">2026-09-23T17:37:08Z</dcterms:modified>
  <cp:category/>
</cp:coreProperties>
</file>